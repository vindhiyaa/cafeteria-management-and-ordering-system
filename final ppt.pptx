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4" r:id="rId9"/>
    <p:sldId id="265" r:id="rId10"/>
    <p:sldId id="266" r:id="rId11"/>
    <p:sldId id="267" r:id="rId12"/>
    <p:sldId id="275" r:id="rId13"/>
    <p:sldId id="269" r:id="rId14"/>
    <p:sldId id="270" r:id="rId15"/>
    <p:sldId id="274" r:id="rId16"/>
    <p:sldId id="276" r:id="rId17"/>
    <p:sldId id="271" r:id="rId18"/>
    <p:sldId id="272" r:id="rId19"/>
    <p:sldId id="263" r:id="rId20"/>
  </p:sldIdLst>
  <p:sldSz cx="9144000" cy="5143500" type="screen16x9"/>
  <p:notesSz cx="6797675" cy="9926638"/>
  <p:embeddedFontLst>
    <p:embeddedFont>
      <p:font typeface="Arial Black" panose="020B0A04020102020204" pitchFamily="34" charset="0"/>
      <p:bold r:id="rId22"/>
    </p:embeddedFont>
    <p:embeddedFont>
      <p:font typeface="Bookman Old Style" panose="02050604050505020204" pitchFamily="18" charset="0"/>
      <p:regular r:id="rId23"/>
      <p:bold r:id="rId24"/>
      <p:italic r:id="rId25"/>
      <p:boldItalic r:id="rId26"/>
    </p:embeddedFont>
    <p:embeddedFont>
      <p:font typeface="Gill Sans" panose="020B060402020202020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n+YqQNLEODNxukWC+moNNe7rN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2ADA08-4EB3-4087-A7FC-7947FCE7DC6A}" v="32" dt="2026-06-02T11:53:33.519"/>
    <p1510:client id="{3FA2978E-BEF5-45EF-B85C-85B81F579BD9}" v="1" dt="2026-06-02T16:24:20.165"/>
  </p1510:revLst>
</p1510:revInfo>
</file>

<file path=ppt/tableStyles.xml><?xml version="1.0" encoding="utf-8"?>
<a:tblStyleLst xmlns:a="http://schemas.openxmlformats.org/drawingml/2006/main" def="{A360B54D-2F12-4FEA-B639-18B5B5E1A9AA}">
  <a:tblStyle styleId="{A360B54D-2F12-4FEA-B639-18B5B5E1A9AA}"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b="off" i="off"/>
      <a:tcStyle>
        <a:tcBdr/>
        <a:fill>
          <a:solidFill>
            <a:srgbClr val="D4D6E0"/>
          </a:solidFill>
        </a:fill>
      </a:tcStyle>
    </a:band1H>
    <a:band2H>
      <a:tcTxStyle b="off" i="off"/>
      <a:tcStyle>
        <a:tcBdr/>
      </a:tcStyle>
    </a:band2H>
    <a:band1V>
      <a:tcTxStyle b="off" i="off"/>
      <a:tcStyle>
        <a:tcBdr/>
        <a:fill>
          <a:solidFill>
            <a:srgbClr val="D4D6E0"/>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85" d="100"/>
          <a:sy n="85" d="100"/>
        </p:scale>
        <p:origin x="984"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82211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14" name="Google Shape;114;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23" name="Google Shape;123;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0" name="Google Shape;130;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8" name="Google Shape;138;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45" name="Google Shape;145;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dirty="0"/>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6229596-A126-88AC-C790-98B6ACA305FD}"/>
            </a:ext>
          </a:extLst>
        </p:cNvPr>
        <p:cNvGrpSpPr/>
        <p:nvPr/>
      </p:nvGrpSpPr>
      <p:grpSpPr>
        <a:xfrm>
          <a:off x="0" y="0"/>
          <a:ext cx="0" cy="0"/>
          <a:chOff x="0" y="0"/>
          <a:chExt cx="0" cy="0"/>
        </a:xfrm>
      </p:grpSpPr>
      <p:sp>
        <p:nvSpPr>
          <p:cNvPr id="151" name="Google Shape;151;p7:notes">
            <a:extLst>
              <a:ext uri="{FF2B5EF4-FFF2-40B4-BE49-F238E27FC236}">
                <a16:creationId xmlns:a16="http://schemas.microsoft.com/office/drawing/2014/main" id="{2CFD84A3-3AB8-A754-66F2-239708D5D42A}"/>
              </a:ext>
            </a:extLst>
          </p:cNvPr>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a:extLst>
              <a:ext uri="{FF2B5EF4-FFF2-40B4-BE49-F238E27FC236}">
                <a16:creationId xmlns:a16="http://schemas.microsoft.com/office/drawing/2014/main" id="{AB1AF132-F061-2DAC-53A5-BF085AA06112}"/>
              </a:ext>
            </a:extLst>
          </p:cNvPr>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1270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8155445-A919-BDDD-3DC2-DE6B7244D2CB}"/>
            </a:ext>
          </a:extLst>
        </p:cNvPr>
        <p:cNvGrpSpPr/>
        <p:nvPr/>
      </p:nvGrpSpPr>
      <p:grpSpPr>
        <a:xfrm>
          <a:off x="0" y="0"/>
          <a:ext cx="0" cy="0"/>
          <a:chOff x="0" y="0"/>
          <a:chExt cx="0" cy="0"/>
        </a:xfrm>
      </p:grpSpPr>
      <p:sp>
        <p:nvSpPr>
          <p:cNvPr id="151" name="Google Shape;151;p7:notes">
            <a:extLst>
              <a:ext uri="{FF2B5EF4-FFF2-40B4-BE49-F238E27FC236}">
                <a16:creationId xmlns:a16="http://schemas.microsoft.com/office/drawing/2014/main" id="{BDD74DD4-6DBA-BFD6-6391-7E46306352D7}"/>
              </a:ext>
            </a:extLst>
          </p:cNvPr>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a:extLst>
              <a:ext uri="{FF2B5EF4-FFF2-40B4-BE49-F238E27FC236}">
                <a16:creationId xmlns:a16="http://schemas.microsoft.com/office/drawing/2014/main" id="{C9162D86-DAC9-E8B9-80BD-8F6E032C98E1}"/>
              </a:ext>
            </a:extLst>
          </p:cNvPr>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2307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AB0C67DE-5FBC-D0FB-C3C7-8E63974847E4}"/>
            </a:ext>
          </a:extLst>
        </p:cNvPr>
        <p:cNvGrpSpPr/>
        <p:nvPr/>
      </p:nvGrpSpPr>
      <p:grpSpPr>
        <a:xfrm>
          <a:off x="0" y="0"/>
          <a:ext cx="0" cy="0"/>
          <a:chOff x="0" y="0"/>
          <a:chExt cx="0" cy="0"/>
        </a:xfrm>
      </p:grpSpPr>
      <p:sp>
        <p:nvSpPr>
          <p:cNvPr id="151" name="Google Shape;151;p7:notes">
            <a:extLst>
              <a:ext uri="{FF2B5EF4-FFF2-40B4-BE49-F238E27FC236}">
                <a16:creationId xmlns:a16="http://schemas.microsoft.com/office/drawing/2014/main" id="{D93ADFB6-780C-3E25-9D68-3D5F9D76BF89}"/>
              </a:ext>
            </a:extLst>
          </p:cNvPr>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a:extLst>
              <a:ext uri="{FF2B5EF4-FFF2-40B4-BE49-F238E27FC236}">
                <a16:creationId xmlns:a16="http://schemas.microsoft.com/office/drawing/2014/main" id="{00103F02-AB68-7997-0320-0ECF4A27211E}"/>
              </a:ext>
            </a:extLst>
          </p:cNvPr>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7311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dirty="0"/>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61" name="Google Shape;161;p1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21" name="Google Shape;21;p1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22" name="Google Shape;22;p1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3"/>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24" name="Google Shape;24;p13"/>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28" name="Google Shape;28;p1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29" name="Google Shape;29;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4"/>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dirty="0"/>
          </a:p>
        </p:txBody>
      </p:sp>
      <p:sp>
        <p:nvSpPr>
          <p:cNvPr id="34" name="Google Shape;34;p1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dirty="0"/>
          </a:p>
        </p:txBody>
      </p:sp>
      <p:sp>
        <p:nvSpPr>
          <p:cNvPr id="35" name="Google Shape;35;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6" name="Google Shape;36;p1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16"/>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40" name="Google Shape;40;p16"/>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41" name="Google Shape;41;p16"/>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42" name="Google Shape;42;p16"/>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16"/>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4" name="Google Shape;44;p16"/>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5" name="Google Shape;45;p16"/>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6" name="Google Shape;46;p16"/>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7"/>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2"/>
              </a:buClr>
              <a:buSzPts val="3200"/>
              <a:buFont typeface="Bookman Old Style"/>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600"/>
              </a:spcBef>
              <a:spcAft>
                <a:spcPts val="0"/>
              </a:spcAft>
              <a:buSzPts val="1520"/>
              <a:buNone/>
              <a:defRPr sz="2000">
                <a:solidFill>
                  <a:schemeClr val="lt1"/>
                </a:solidFill>
              </a:defRPr>
            </a:lvl1pPr>
            <a:lvl2pPr marL="914400" lvl="1" indent="-228600" algn="l">
              <a:lnSpc>
                <a:spcPct val="100000"/>
              </a:lnSpc>
              <a:spcBef>
                <a:spcPts val="500"/>
              </a:spcBef>
              <a:spcAft>
                <a:spcPts val="0"/>
              </a:spcAft>
              <a:buSzPts val="1368"/>
              <a:buNone/>
              <a:defRPr sz="1800">
                <a:solidFill>
                  <a:schemeClr val="lt1"/>
                </a:solidFill>
              </a:defRPr>
            </a:lvl2pPr>
            <a:lvl3pPr marL="1371600" lvl="2" indent="-228600" algn="l">
              <a:lnSpc>
                <a:spcPct val="100000"/>
              </a:lnSpc>
              <a:spcBef>
                <a:spcPts val="500"/>
              </a:spcBef>
              <a:spcAft>
                <a:spcPts val="0"/>
              </a:spcAft>
              <a:buSzPts val="1216"/>
              <a:buNone/>
              <a:defRPr sz="1600">
                <a:solidFill>
                  <a:schemeClr val="lt1"/>
                </a:solidFill>
              </a:defRPr>
            </a:lvl3pPr>
            <a:lvl4pPr marL="1828800" lvl="3" indent="-228600" algn="l">
              <a:lnSpc>
                <a:spcPct val="100000"/>
              </a:lnSpc>
              <a:spcBef>
                <a:spcPts val="400"/>
              </a:spcBef>
              <a:spcAft>
                <a:spcPts val="0"/>
              </a:spcAft>
              <a:buSzPts val="980"/>
              <a:buNone/>
              <a:defRPr sz="1400">
                <a:solidFill>
                  <a:schemeClr val="lt1"/>
                </a:solidFill>
              </a:defRPr>
            </a:lvl4pPr>
            <a:lvl5pPr marL="2286000" lvl="4" indent="-228600" algn="l">
              <a:lnSpc>
                <a:spcPct val="100000"/>
              </a:lnSpc>
              <a:spcBef>
                <a:spcPts val="300"/>
              </a:spcBef>
              <a:spcAft>
                <a:spcPts val="0"/>
              </a:spcAft>
              <a:buSzPts val="980"/>
              <a:buNone/>
              <a:defRPr sz="1400">
                <a:solidFill>
                  <a:schemeClr val="lt1"/>
                </a:solidFill>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0" name="Google Shape;50;p17"/>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51" name="Google Shape;51;p17"/>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52" name="Google Shape;52;p17"/>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53" name="Google Shape;53;p17"/>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54" name="Google Shape;54;p17"/>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8"/>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8"/>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8" name="Google Shape;58;p18"/>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9" name="Google Shape;59;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60" name="Google Shape;60;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61" name="Google Shape;61;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18"/>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63" name="Google Shape;63;p18"/>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66" name="Google Shape;66;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67" name="Google Shape;67;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19"/>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19"/>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lnSpc>
                <a:spcPct val="100000"/>
              </a:lnSpc>
              <a:spcBef>
                <a:spcPts val="1000"/>
              </a:spcBef>
              <a:spcAft>
                <a:spcPts val="0"/>
              </a:spcAft>
              <a:buSzPts val="912"/>
              <a:buNone/>
              <a:defRPr sz="1200"/>
            </a:lvl2pPr>
            <a:lvl3pPr marL="1371600" lvl="2" indent="-228600" algn="l">
              <a:lnSpc>
                <a:spcPct val="100000"/>
              </a:lnSpc>
              <a:spcBef>
                <a:spcPts val="500"/>
              </a:spcBef>
              <a:spcAft>
                <a:spcPts val="0"/>
              </a:spcAft>
              <a:buSzPts val="760"/>
              <a:buNone/>
              <a:defRPr sz="1000"/>
            </a:lvl3pPr>
            <a:lvl4pPr marL="1828800" lvl="3" indent="-228600" algn="l">
              <a:lnSpc>
                <a:spcPct val="100000"/>
              </a:lnSpc>
              <a:spcBef>
                <a:spcPts val="400"/>
              </a:spcBef>
              <a:spcAft>
                <a:spcPts val="0"/>
              </a:spcAft>
              <a:buSzPts val="630"/>
              <a:buNone/>
              <a:defRPr sz="900"/>
            </a:lvl4pPr>
            <a:lvl5pPr marL="2286000" lvl="4" indent="-228600" algn="l">
              <a:lnSpc>
                <a:spcPct val="100000"/>
              </a:lnSpc>
              <a:spcBef>
                <a:spcPts val="300"/>
              </a:spcBef>
              <a:spcAft>
                <a:spcPts val="0"/>
              </a:spcAft>
              <a:buSzPts val="630"/>
              <a:buNone/>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73" name="Google Shape;73;p20"/>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74" name="Google Shape;74;p20"/>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75" name="Google Shape;75;p2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0"/>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0"/>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0"/>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79" name="Google Shape;79;p20"/>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lnSpc>
                <a:spcPct val="100000"/>
              </a:lnSpc>
              <a:spcBef>
                <a:spcPts val="0"/>
              </a:spcBef>
              <a:spcAft>
                <a:spcPts val="0"/>
              </a:spcAft>
              <a:buClr>
                <a:schemeClr val="lt1"/>
              </a:buClr>
              <a:buSzPts val="2000"/>
              <a:buFont typeface="Bookman Old Style"/>
              <a:buNone/>
              <a:defRPr sz="2000" b="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1"/>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600"/>
              </a:spcBef>
              <a:spcAft>
                <a:spcPts val="0"/>
              </a:spcAft>
              <a:buSzPts val="1064"/>
              <a:buFont typeface="Gill Sans"/>
              <a:buNone/>
              <a:defRPr sz="1400"/>
            </a:lvl1pPr>
            <a:lvl2pPr marL="914400" lvl="1" indent="-286512" algn="l">
              <a:lnSpc>
                <a:spcPct val="100000"/>
              </a:lnSpc>
              <a:spcBef>
                <a:spcPts val="500"/>
              </a:spcBef>
              <a:spcAft>
                <a:spcPts val="0"/>
              </a:spcAft>
              <a:buSzPts val="912"/>
              <a:buChar char="?"/>
              <a:defRPr sz="1200"/>
            </a:lvl2pPr>
            <a:lvl3pPr marL="1371600" lvl="2" indent="-276860" algn="l">
              <a:lnSpc>
                <a:spcPct val="100000"/>
              </a:lnSpc>
              <a:spcBef>
                <a:spcPts val="500"/>
              </a:spcBef>
              <a:spcAft>
                <a:spcPts val="0"/>
              </a:spcAft>
              <a:buSzPts val="760"/>
              <a:buChar char="?"/>
              <a:defRPr sz="1000"/>
            </a:lvl3pPr>
            <a:lvl4pPr marL="1828800" lvl="3" indent="-268605" algn="l">
              <a:lnSpc>
                <a:spcPct val="100000"/>
              </a:lnSpc>
              <a:spcBef>
                <a:spcPts val="400"/>
              </a:spcBef>
              <a:spcAft>
                <a:spcPts val="0"/>
              </a:spcAft>
              <a:buSzPts val="630"/>
              <a:buChar char="◻"/>
              <a:defRPr sz="900"/>
            </a:lvl4pPr>
            <a:lvl5pPr marL="2286000" lvl="4" indent="-268604" algn="l">
              <a:lnSpc>
                <a:spcPct val="100000"/>
              </a:lnSpc>
              <a:spcBef>
                <a:spcPts val="300"/>
              </a:spcBef>
              <a:spcAft>
                <a:spcPts val="0"/>
              </a:spcAft>
              <a:buSzPts val="630"/>
              <a:buChar char="◻"/>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84" name="Google Shape;84;p21"/>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85" name="Google Shape;85;p21"/>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86" name="Google Shape;86;p2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1"/>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1"/>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9" name="Google Shape;89;p21"/>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2"/>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3" name="Google Shape;93;p2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94" name="Google Shape;94;p2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95" name="Google Shape;95;p2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3"/>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9" name="Google Shape;99;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03-06-2026</a:t>
            </a:r>
            <a:endParaRPr/>
          </a:p>
        </p:txBody>
      </p:sp>
      <p:sp>
        <p:nvSpPr>
          <p:cNvPr id="100" name="Google Shape;100;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END SEMESTER REVIEW</a:t>
            </a:r>
            <a:endParaRPr/>
          </a:p>
        </p:txBody>
      </p:sp>
      <p:sp>
        <p:nvSpPr>
          <p:cNvPr id="101" name="Google Shape;101;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3"/>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3"/>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cxnSp>
        <p:nvCxnSpPr>
          <p:cNvPr id="104" name="Google Shape;104;p23"/>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lnSpc>
                <a:spcPct val="100000"/>
              </a:lnSpc>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lnSpc>
                <a:spcPct val="100000"/>
              </a:lnSpc>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lnSpc>
                <a:spcPct val="100000"/>
              </a:lnSpc>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lnSpc>
                <a:spcPct val="100000"/>
              </a:lnSpc>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lnSpc>
                <a:spcPct val="100000"/>
              </a:lnSpc>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lnSpc>
                <a:spcPct val="100000"/>
              </a:lnSpc>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lnSpc>
                <a:spcPct val="100000"/>
              </a:lnSpc>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lnSpc>
                <a:spcPct val="100000"/>
              </a:lnSpc>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r>
              <a:rPr lang="en-US"/>
              <a:t>03-06-2026</a:t>
            </a:r>
            <a:endParaRPr/>
          </a:p>
        </p:txBody>
      </p:sp>
      <p:sp>
        <p:nvSpPr>
          <p:cNvPr id="13" name="Google Shape;13;p1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r>
              <a:rPr lang="en-US"/>
              <a:t>END SEMESTER REVIEW</a:t>
            </a:r>
            <a:endParaRPr/>
          </a:p>
        </p:txBody>
      </p:sp>
      <p:sp>
        <p:nvSpPr>
          <p:cNvPr id="14" name="Google Shape;14;p1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2"/>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2"/>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2"/>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0C8"/>
        </a:solidFill>
        <a:effectLst/>
      </p:bgPr>
    </p:bg>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2800"/>
              <a:buFont typeface="Times New Roman"/>
              <a:buNone/>
            </a:pPr>
            <a:r>
              <a:rPr lang="en-US" sz="2800" b="1" dirty="0">
                <a:solidFill>
                  <a:schemeClr val="tx1"/>
                </a:solidFill>
                <a:latin typeface="Times New Roman"/>
                <a:ea typeface="Times New Roman"/>
                <a:cs typeface="Times New Roman"/>
                <a:sym typeface="Times New Roman"/>
              </a:rPr>
              <a:t>CGB1122 – DATA STRUCTURES</a:t>
            </a:r>
            <a:br>
              <a:rPr lang="en-US" sz="2800" b="1" dirty="0">
                <a:solidFill>
                  <a:schemeClr val="tx1"/>
                </a:solidFill>
                <a:latin typeface="Times New Roman"/>
                <a:ea typeface="Times New Roman"/>
                <a:cs typeface="Times New Roman"/>
                <a:sym typeface="Times New Roman"/>
              </a:rPr>
            </a:br>
            <a:r>
              <a:rPr lang="en-US" sz="2800" b="1" dirty="0">
                <a:solidFill>
                  <a:schemeClr val="tx1"/>
                </a:solidFill>
                <a:latin typeface="Times New Roman"/>
                <a:ea typeface="Times New Roman"/>
                <a:cs typeface="Times New Roman"/>
                <a:sym typeface="Times New Roman"/>
              </a:rPr>
              <a:t>END SEMESTER REVIEW</a:t>
            </a:r>
            <a:endParaRPr sz="2800" b="1" dirty="0">
              <a:solidFill>
                <a:schemeClr val="tx1"/>
              </a:solidFill>
              <a:latin typeface="Times New Roman"/>
              <a:ea typeface="Times New Roman"/>
              <a:cs typeface="Times New Roman"/>
              <a:sym typeface="Times New Roman"/>
            </a:endParaRPr>
          </a:p>
        </p:txBody>
      </p:sp>
      <p:sp>
        <p:nvSpPr>
          <p:cNvPr id="110" name="Google Shape;110;p1"/>
          <p:cNvSpPr txBox="1"/>
          <p:nvPr/>
        </p:nvSpPr>
        <p:spPr>
          <a:xfrm>
            <a:off x="219456" y="1264356"/>
            <a:ext cx="8712202" cy="3282360"/>
          </a:xfrm>
          <a:prstGeom prst="rect">
            <a:avLst/>
          </a:prstGeom>
          <a:noFill/>
          <a:ln>
            <a:noFill/>
          </a:ln>
        </p:spPr>
        <p:txBody>
          <a:bodyPr spcFirstLastPara="1" wrap="square" lIns="45700" tIns="45700" rIns="45700" bIns="0" anchor="b" anchorCtr="0">
            <a:noAutofit/>
          </a:bodyPr>
          <a:lstStyle/>
          <a:p>
            <a:pPr algn="ctr">
              <a:buSzPts val="2500"/>
            </a:pPr>
            <a:r>
              <a:rPr lang="en-US" sz="2000" b="1" dirty="0">
                <a:solidFill>
                  <a:schemeClr val="dk1"/>
                </a:solidFill>
                <a:latin typeface="Times New Roman"/>
                <a:ea typeface="Times New Roman"/>
                <a:cs typeface="Times New Roman"/>
                <a:sym typeface="Times New Roman"/>
              </a:rPr>
              <a:t>Academic Year: 2025 – 2026 (Even Semester)</a:t>
            </a:r>
          </a:p>
          <a:p>
            <a:pPr algn="ctr">
              <a:buSzPts val="2500"/>
            </a:pPr>
            <a:endParaRPr sz="2000" b="1" i="0" u="none" strike="noStrike" cap="none" dirty="0">
              <a:solidFill>
                <a:schemeClr val="dk1"/>
              </a:solidFill>
              <a:latin typeface="Times New Roman"/>
              <a:ea typeface="Times New Roman"/>
              <a:cs typeface="Times New Roman"/>
              <a:sym typeface="Times New Roman"/>
            </a:endParaRPr>
          </a:p>
          <a:p>
            <a:pPr lvl="0">
              <a:buSzPts val="2500"/>
            </a:pPr>
            <a:r>
              <a:rPr lang="en-US" sz="2000" b="1" i="0" u="none" strike="noStrike" cap="none" dirty="0">
                <a:solidFill>
                  <a:schemeClr val="dk1"/>
                </a:solidFill>
                <a:latin typeface="Times New Roman"/>
                <a:ea typeface="Times New Roman"/>
                <a:cs typeface="Times New Roman"/>
                <a:sym typeface="Times New Roman"/>
              </a:rPr>
              <a:t>Register Number</a:t>
            </a:r>
            <a:r>
              <a:rPr lang="en-US" sz="2000" b="1" dirty="0">
                <a:solidFill>
                  <a:schemeClr val="dk1"/>
                </a:solidFill>
                <a:latin typeface="Times New Roman"/>
                <a:ea typeface="Times New Roman"/>
                <a:cs typeface="Times New Roman"/>
                <a:sym typeface="Times New Roman"/>
              </a:rPr>
              <a:t>	: 927625BSC003,927625BSC058,927625BCS187</a:t>
            </a:r>
          </a:p>
          <a:p>
            <a:pPr lvl="0">
              <a:buSzPts val="2500"/>
            </a:pPr>
            <a:r>
              <a:rPr lang="en-US" sz="2000" b="1" dirty="0">
                <a:solidFill>
                  <a:schemeClr val="dk1"/>
                </a:solidFill>
                <a:latin typeface="Times New Roman"/>
                <a:ea typeface="Times New Roman"/>
                <a:cs typeface="Times New Roman"/>
                <a:sym typeface="Times New Roman"/>
              </a:rPr>
              <a:t>Section Roll Number	: A502,A557,A562</a:t>
            </a:r>
          </a:p>
          <a:p>
            <a:pPr lvl="0">
              <a:buSzPts val="2500"/>
            </a:pPr>
            <a:r>
              <a:rPr lang="en-US" sz="2000" b="1" i="0" u="none" strike="noStrike" cap="none" dirty="0">
                <a:solidFill>
                  <a:schemeClr val="dk1"/>
                </a:solidFill>
                <a:latin typeface="Times New Roman"/>
                <a:ea typeface="Times New Roman"/>
                <a:cs typeface="Times New Roman"/>
                <a:sym typeface="Times New Roman"/>
              </a:rPr>
              <a:t>Name</a:t>
            </a:r>
            <a:r>
              <a:rPr lang="en-US" sz="2000" b="1" dirty="0">
                <a:solidFill>
                  <a:schemeClr val="dk1"/>
                </a:solidFill>
                <a:latin typeface="Times New Roman"/>
                <a:ea typeface="Times New Roman"/>
                <a:cs typeface="Times New Roman"/>
                <a:sym typeface="Times New Roman"/>
              </a:rPr>
              <a:t>			</a:t>
            </a:r>
            <a:r>
              <a:rPr lang="en-US" sz="2000" b="1" i="0" u="none" strike="noStrike" cap="none" dirty="0">
                <a:solidFill>
                  <a:schemeClr val="dk1"/>
                </a:solidFill>
                <a:latin typeface="Times New Roman"/>
                <a:ea typeface="Times New Roman"/>
                <a:cs typeface="Times New Roman"/>
                <a:sym typeface="Times New Roman"/>
              </a:rPr>
              <a:t>:</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Anushka M ,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Swedhachellam</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K ,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Vindhiyaa</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a:t>
            </a:r>
            <a:endParaRPr lang="en-US" sz="20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000" b="1" i="0" u="none" strike="noStrike" cap="none" dirty="0">
                <a:solidFill>
                  <a:schemeClr val="dk1"/>
                </a:solidFill>
                <a:latin typeface="Times New Roman"/>
                <a:ea typeface="Times New Roman"/>
                <a:cs typeface="Times New Roman"/>
                <a:sym typeface="Times New Roman"/>
              </a:rPr>
              <a:t>Year</a:t>
            </a:r>
            <a:r>
              <a:rPr lang="en-US" sz="2000" b="1" dirty="0">
                <a:solidFill>
                  <a:schemeClr val="dk1"/>
                </a:solidFill>
                <a:latin typeface="Times New Roman"/>
                <a:ea typeface="Times New Roman"/>
                <a:cs typeface="Times New Roman"/>
                <a:sym typeface="Times New Roman"/>
              </a:rPr>
              <a:t>			</a:t>
            </a:r>
            <a:r>
              <a:rPr lang="en-US" sz="2000" b="1" i="0" u="none" strike="noStrike" cap="none" dirty="0">
                <a:solidFill>
                  <a:schemeClr val="dk1"/>
                </a:solidFill>
                <a:latin typeface="Times New Roman"/>
                <a:ea typeface="Times New Roman"/>
                <a:cs typeface="Times New Roman"/>
                <a:sym typeface="Times New Roman"/>
              </a:rPr>
              <a:t>: </a:t>
            </a:r>
            <a:r>
              <a:rPr lang="en-US" sz="2000" b="1" dirty="0">
                <a:solidFill>
                  <a:schemeClr val="dk1"/>
                </a:solidFill>
                <a:latin typeface="Times New Roman"/>
                <a:ea typeface="Times New Roman"/>
                <a:cs typeface="Times New Roman"/>
                <a:sym typeface="Times New Roman"/>
              </a:rPr>
              <a:t>I</a:t>
            </a:r>
            <a:endParaRPr sz="20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000" b="1" i="0" u="none" strike="noStrike" cap="none" dirty="0">
                <a:solidFill>
                  <a:schemeClr val="dk1"/>
                </a:solidFill>
                <a:latin typeface="Times New Roman"/>
                <a:ea typeface="Times New Roman"/>
                <a:cs typeface="Times New Roman"/>
                <a:sym typeface="Times New Roman"/>
              </a:rPr>
              <a:t>Semester</a:t>
            </a:r>
            <a:r>
              <a:rPr lang="en-US" sz="2000" b="1" dirty="0">
                <a:solidFill>
                  <a:schemeClr val="dk1"/>
                </a:solidFill>
                <a:latin typeface="Times New Roman"/>
                <a:ea typeface="Times New Roman"/>
                <a:cs typeface="Times New Roman"/>
                <a:sym typeface="Times New Roman"/>
              </a:rPr>
              <a:t>		</a:t>
            </a:r>
            <a:r>
              <a:rPr lang="en-US" sz="2000" b="1" i="0" u="none" strike="noStrike" cap="none" dirty="0">
                <a:solidFill>
                  <a:schemeClr val="dk1"/>
                </a:solidFill>
                <a:latin typeface="Times New Roman"/>
                <a:ea typeface="Times New Roman"/>
                <a:cs typeface="Times New Roman"/>
                <a:sym typeface="Times New Roman"/>
              </a:rPr>
              <a:t>: </a:t>
            </a:r>
            <a:r>
              <a:rPr lang="en-US" sz="2000" b="1" dirty="0">
                <a:solidFill>
                  <a:schemeClr val="dk1"/>
                </a:solidFill>
                <a:latin typeface="Times New Roman"/>
                <a:ea typeface="Times New Roman"/>
                <a:cs typeface="Times New Roman"/>
                <a:sym typeface="Times New Roman"/>
              </a:rPr>
              <a:t>II</a:t>
            </a:r>
            <a:endParaRPr sz="20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000" b="1" i="0" u="none" strike="noStrike" cap="none" dirty="0">
                <a:solidFill>
                  <a:schemeClr val="dk1"/>
                </a:solidFill>
                <a:latin typeface="Times New Roman"/>
                <a:ea typeface="Times New Roman"/>
                <a:cs typeface="Times New Roman"/>
                <a:sym typeface="Times New Roman"/>
              </a:rPr>
              <a:t>Section			: A5 </a:t>
            </a:r>
          </a:p>
          <a:p>
            <a:pPr marL="0" marR="0" lvl="0" indent="0" algn="l" rtl="0">
              <a:lnSpc>
                <a:spcPct val="100000"/>
              </a:lnSpc>
              <a:spcBef>
                <a:spcPts val="0"/>
              </a:spcBef>
              <a:spcAft>
                <a:spcPts val="0"/>
              </a:spcAft>
              <a:buClr>
                <a:srgbClr val="000000"/>
              </a:buClr>
              <a:buSzPts val="2500"/>
              <a:buFont typeface="Arial"/>
              <a:buNone/>
            </a:pPr>
            <a:r>
              <a:rPr lang="en-US" sz="2000" b="1" i="0" u="none" strike="noStrike" cap="none" dirty="0">
                <a:solidFill>
                  <a:schemeClr val="dk1"/>
                </a:solidFill>
                <a:latin typeface="Times New Roman"/>
                <a:ea typeface="Times New Roman"/>
                <a:cs typeface="Times New Roman"/>
                <a:sym typeface="Times New Roman"/>
              </a:rPr>
              <a:t>Date			: 03-06-2026</a:t>
            </a:r>
            <a:endParaRPr lang="en-US" sz="2500" b="1" i="0" u="none" strike="noStrike" cap="none" dirty="0">
              <a:solidFill>
                <a:schemeClr val="dk1"/>
              </a:solidFill>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CDA62D4B-7D1D-6CE7-708D-6830539A73FC}"/>
              </a:ext>
            </a:extLst>
          </p:cNvPr>
          <p:cNvSpPr>
            <a:spLocks noGrp="1"/>
          </p:cNvSpPr>
          <p:nvPr>
            <p:ph type="ftr" idx="11"/>
          </p:nvPr>
        </p:nvSpPr>
        <p:spPr/>
        <p:txBody>
          <a:bodyPr/>
          <a:lstStyle/>
          <a:p>
            <a:r>
              <a:rPr lang="en-US"/>
              <a:t>END SEMESTER REVIEW</a:t>
            </a:r>
            <a:endParaRPr lang="en-US" dirty="0"/>
          </a:p>
        </p:txBody>
      </p:sp>
      <p:sp>
        <p:nvSpPr>
          <p:cNvPr id="3" name="Slide Number Placeholder 2">
            <a:extLst>
              <a:ext uri="{FF2B5EF4-FFF2-40B4-BE49-F238E27FC236}">
                <a16:creationId xmlns:a16="http://schemas.microsoft.com/office/drawing/2014/main" id="{4449134A-4BAC-02A3-3CE0-336E2602566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a:t>
            </a:fld>
            <a:endParaRPr lang="en-US"/>
          </a:p>
        </p:txBody>
      </p:sp>
      <p:sp>
        <p:nvSpPr>
          <p:cNvPr id="5" name="Date Placeholder 4">
            <a:extLst>
              <a:ext uri="{FF2B5EF4-FFF2-40B4-BE49-F238E27FC236}">
                <a16:creationId xmlns:a16="http://schemas.microsoft.com/office/drawing/2014/main" id="{CC8E9870-CBE2-C89B-8C66-ABE20C212F64}"/>
              </a:ext>
            </a:extLst>
          </p:cNvPr>
          <p:cNvSpPr>
            <a:spLocks noGrp="1"/>
          </p:cNvSpPr>
          <p:nvPr>
            <p:ph type="dt" idx="10"/>
          </p:nvPr>
        </p:nvSpPr>
        <p:spPr/>
        <p:txBody>
          <a:bodyPr/>
          <a:lstStyle/>
          <a:p>
            <a:r>
              <a:rPr lang="en-US"/>
              <a:t>03-06-2026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101918"/>
            <a:ext cx="8229600" cy="699594"/>
          </a:xfrm>
          <a:prstGeom prst="rect">
            <a:avLst/>
          </a:prstGeom>
          <a:solidFill>
            <a:srgbClr val="93B9C3"/>
          </a:solidFill>
          <a:ln>
            <a:noFill/>
          </a:ln>
        </p:spPr>
        <p:txBody>
          <a:bodyPr spcFirstLastPara="1" wrap="square" lIns="91425" tIns="45700" rIns="91425" bIns="45700" anchor="b" anchorCtr="0">
            <a:normAutofit fontScale="90000"/>
          </a:bodyPr>
          <a:lstStyle/>
          <a:p>
            <a:pPr lvl="0" algn="ctr">
              <a:buClr>
                <a:schemeClr val="dk1"/>
              </a:buClr>
              <a:buSzPts val="3200"/>
            </a:pPr>
            <a:r>
              <a:rPr lang="en-US" sz="4000" b="1" dirty="0">
                <a:solidFill>
                  <a:schemeClr val="dk1"/>
                </a:solidFill>
                <a:latin typeface="Times New Roman"/>
                <a:ea typeface="Times New Roman"/>
                <a:cs typeface="Times New Roman"/>
                <a:sym typeface="Times New Roman"/>
              </a:rPr>
              <a:t>Project Title</a:t>
            </a:r>
            <a:endParaRPr sz="4000" b="1" dirty="0">
              <a:solidFill>
                <a:schemeClr val="dk1"/>
              </a:solidFill>
              <a:latin typeface="Times New Roman"/>
              <a:ea typeface="Times New Roman"/>
              <a:cs typeface="Times New Roman"/>
              <a:sym typeface="Times New Roman"/>
            </a:endParaRPr>
          </a:p>
        </p:txBody>
      </p:sp>
      <p:sp>
        <p:nvSpPr>
          <p:cNvPr id="117" name="Google Shape;117;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2</a:t>
            </a:fld>
            <a:endParaRPr/>
          </a:p>
        </p:txBody>
      </p:sp>
      <p:sp>
        <p:nvSpPr>
          <p:cNvPr id="118" name="Google Shape;118;p2"/>
          <p:cNvSpPr txBox="1"/>
          <p:nvPr/>
        </p:nvSpPr>
        <p:spPr>
          <a:xfrm>
            <a:off x="799650" y="0"/>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dirty="0">
              <a:solidFill>
                <a:srgbClr val="414141"/>
              </a:solidFill>
              <a:latin typeface="Arial"/>
              <a:ea typeface="Arial"/>
              <a:cs typeface="Arial"/>
              <a:sym typeface="Arial"/>
            </a:endParaRPr>
          </a:p>
        </p:txBody>
      </p:sp>
      <p:sp>
        <p:nvSpPr>
          <p:cNvPr id="119" name="Google Shape;119;p2"/>
          <p:cNvSpPr txBox="1">
            <a:spLocks noGrp="1"/>
          </p:cNvSpPr>
          <p:nvPr>
            <p:ph type="body" idx="1"/>
          </p:nvPr>
        </p:nvSpPr>
        <p:spPr>
          <a:xfrm>
            <a:off x="342450" y="1013088"/>
            <a:ext cx="8229600" cy="3703200"/>
          </a:xfrm>
          <a:prstGeom prst="rect">
            <a:avLst/>
          </a:prstGeom>
          <a:noFill/>
          <a:ln>
            <a:noFill/>
          </a:ln>
        </p:spPr>
        <p:txBody>
          <a:bodyPr spcFirstLastPara="1" wrap="square" lIns="91425" tIns="45700" rIns="91425" bIns="45700" anchor="t" anchorCtr="0">
            <a:normAutofit/>
          </a:bodyPr>
          <a:lstStyle/>
          <a:p>
            <a:pPr marL="274320" lvl="0" indent="-148844" algn="l" rtl="0">
              <a:lnSpc>
                <a:spcPct val="100000"/>
              </a:lnSpc>
              <a:spcBef>
                <a:spcPts val="600"/>
              </a:spcBef>
              <a:spcAft>
                <a:spcPts val="0"/>
              </a:spcAft>
              <a:buSzPts val="1976"/>
              <a:buNone/>
            </a:pPr>
            <a:endParaRPr dirty="0">
              <a:latin typeface="Times New Roman"/>
              <a:ea typeface="Times New Roman"/>
              <a:cs typeface="Times New Roman"/>
              <a:sym typeface="Times New Roman"/>
            </a:endParaRPr>
          </a:p>
          <a:p>
            <a:pPr marL="0" lvl="0" indent="0" algn="l" rtl="0">
              <a:lnSpc>
                <a:spcPct val="100000"/>
              </a:lnSpc>
              <a:spcBef>
                <a:spcPts val="600"/>
              </a:spcBef>
              <a:spcAft>
                <a:spcPts val="0"/>
              </a:spcAft>
              <a:buSzPts val="1976"/>
              <a:buNone/>
            </a:pPr>
            <a:r>
              <a:rPr lang="en-US"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r>
              <a:rPr lang="en-IN" dirty="0">
                <a:latin typeface="Times New Roman"/>
                <a:ea typeface="Times New Roman"/>
                <a:cs typeface="Times New Roman"/>
                <a:sym typeface="Times New Roman"/>
              </a:rPr>
              <a:t>            </a:t>
            </a:r>
            <a:r>
              <a:rPr lang="en-IN" b="1"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endParaRPr dirty="0">
              <a:latin typeface="Times New Roman"/>
              <a:ea typeface="Times New Roman"/>
              <a:cs typeface="Times New Roman"/>
              <a:sym typeface="Times New Roman"/>
            </a:endParaRPr>
          </a:p>
        </p:txBody>
      </p:sp>
      <p:sp>
        <p:nvSpPr>
          <p:cNvPr id="120" name="Google Shape;120;p2"/>
          <p:cNvSpPr txBox="1"/>
          <p:nvPr/>
        </p:nvSpPr>
        <p:spPr>
          <a:xfrm>
            <a:off x="342450" y="1436055"/>
            <a:ext cx="8629975" cy="1523464"/>
          </a:xfrm>
          <a:prstGeom prst="rect">
            <a:avLst/>
          </a:prstGeom>
          <a:noFill/>
          <a:ln>
            <a:noFill/>
          </a:ln>
        </p:spPr>
        <p:txBody>
          <a:bodyPr spcFirstLastPara="1" wrap="square" lIns="91425" tIns="91425" rIns="91425" bIns="91425" anchor="t" anchorCtr="0">
            <a:spAutoFit/>
          </a:bodyPr>
          <a:lstStyle/>
          <a:p>
            <a:pPr lvl="0" algn="ctr">
              <a:spcBef>
                <a:spcPts val="600"/>
              </a:spcBef>
              <a:buSzPts val="1368"/>
            </a:pPr>
            <a:endParaRPr lang="en-US" altLang="en-GB" sz="2400" b="1" dirty="0">
              <a:latin typeface="Arial Black" panose="020B0A04020102020204" charset="0"/>
              <a:ea typeface="Times New Roman" panose="02020603050405020304"/>
              <a:cs typeface="Arial Black" panose="020B0A04020102020204" charset="0"/>
              <a:sym typeface="Times New Roman" panose="02020603050405020304"/>
            </a:endParaRPr>
          </a:p>
          <a:p>
            <a:pPr lvl="0" algn="ctr">
              <a:spcBef>
                <a:spcPts val="600"/>
              </a:spcBef>
              <a:buSzPts val="1368"/>
            </a:pPr>
            <a:r>
              <a:rPr lang="en-US" altLang="en-GB" sz="2400" b="1" dirty="0">
                <a:latin typeface="Arial Black" panose="020B0A04020102020204" charset="0"/>
                <a:ea typeface="Times New Roman" panose="02020603050405020304"/>
                <a:cs typeface="Arial Black" panose="020B0A04020102020204" charset="0"/>
                <a:sym typeface="Times New Roman" panose="02020603050405020304"/>
              </a:rPr>
              <a:t>Cafeteria Management and Ordering System</a:t>
            </a:r>
          </a:p>
          <a:p>
            <a:pPr lvl="0" algn="ctr">
              <a:spcBef>
                <a:spcPts val="600"/>
              </a:spcBef>
              <a:buSzPts val="1368"/>
            </a:pPr>
            <a:r>
              <a:rPr lang="en-US" altLang="en-GB" sz="2400" b="1" dirty="0">
                <a:latin typeface="Arial Black" panose="020B0A04020102020204" charset="0"/>
                <a:ea typeface="Times New Roman" panose="02020603050405020304"/>
                <a:cs typeface="Arial Black" panose="020B0A04020102020204" charset="0"/>
                <a:sym typeface="Times New Roman" panose="02020603050405020304"/>
              </a:rPr>
              <a:t>Subject: </a:t>
            </a:r>
            <a:r>
              <a:rPr lang="en-US" altLang="en-GB" sz="2400" dirty="0">
                <a:latin typeface="Bookman Old Style" panose="02050604050505020204" charset="0"/>
                <a:ea typeface="Times New Roman" panose="02020603050405020304"/>
                <a:cs typeface="Bookman Old Style" panose="02050604050505020204" charset="0"/>
                <a:sym typeface="Times New Roman" panose="02020603050405020304"/>
              </a:rPr>
              <a:t>Data Structures</a:t>
            </a:r>
          </a:p>
        </p:txBody>
      </p:sp>
      <p:sp>
        <p:nvSpPr>
          <p:cNvPr id="2" name="Footer Placeholder 1">
            <a:extLst>
              <a:ext uri="{FF2B5EF4-FFF2-40B4-BE49-F238E27FC236}">
                <a16:creationId xmlns:a16="http://schemas.microsoft.com/office/drawing/2014/main" id="{73F0D7AC-C06F-8E62-AC7F-86585F24127E}"/>
              </a:ext>
            </a:extLst>
          </p:cNvPr>
          <p:cNvSpPr>
            <a:spLocks noGrp="1"/>
          </p:cNvSpPr>
          <p:nvPr>
            <p:ph type="ftr" idx="11"/>
          </p:nvPr>
        </p:nvSpPr>
        <p:spPr/>
        <p:txBody>
          <a:bodyPr/>
          <a:lstStyle/>
          <a:p>
            <a:r>
              <a:rPr lang="en-US"/>
              <a:t>END SEMESTER REVIEW</a:t>
            </a:r>
          </a:p>
        </p:txBody>
      </p:sp>
      <p:sp>
        <p:nvSpPr>
          <p:cNvPr id="4" name="Date Placeholder 3">
            <a:extLst>
              <a:ext uri="{FF2B5EF4-FFF2-40B4-BE49-F238E27FC236}">
                <a16:creationId xmlns:a16="http://schemas.microsoft.com/office/drawing/2014/main" id="{71A68E1A-0264-F924-5564-21FDF9D44073}"/>
              </a:ext>
            </a:extLst>
          </p:cNvPr>
          <p:cNvSpPr>
            <a:spLocks noGrp="1"/>
          </p:cNvSpPr>
          <p:nvPr>
            <p:ph type="dt" idx="10"/>
          </p:nvPr>
        </p:nvSpPr>
        <p:spPr/>
        <p:txBody>
          <a:bodyPr/>
          <a:lstStyle/>
          <a:p>
            <a:r>
              <a:rPr lang="en-US"/>
              <a:t>03-06-2026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a:t>
            </a:r>
            <a:endParaRPr lang="en-US" sz="4000" dirty="0">
              <a:solidFill>
                <a:schemeClr val="dk1"/>
              </a:solidFill>
              <a:latin typeface="Times New Roman"/>
              <a:ea typeface="Times New Roman"/>
              <a:cs typeface="Times New Roman"/>
              <a:sym typeface="Times New Roman"/>
            </a:endParaRPr>
          </a:p>
        </p:txBody>
      </p:sp>
      <p:sp>
        <p:nvSpPr>
          <p:cNvPr id="126" name="Google Shape;126;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27" name="Google Shape;127;p3"/>
          <p:cNvSpPr txBox="1">
            <a:spLocks noGrp="1"/>
          </p:cNvSpPr>
          <p:nvPr>
            <p:ph type="body" idx="1"/>
          </p:nvPr>
        </p:nvSpPr>
        <p:spPr>
          <a:xfrm>
            <a:off x="135467" y="914400"/>
            <a:ext cx="8551333" cy="3703320"/>
          </a:xfrm>
          <a:prstGeom prst="rect">
            <a:avLst/>
          </a:prstGeom>
          <a:noFill/>
          <a:ln>
            <a:noFill/>
          </a:ln>
        </p:spPr>
        <p:txBody>
          <a:bodyPr spcFirstLastPara="1" wrap="square" lIns="91425" tIns="45700" rIns="91425" bIns="45700" anchor="t" anchorCtr="0">
            <a:normAutofit fontScale="32500" lnSpcReduction="20000"/>
          </a:bodyPr>
          <a:lstStyle/>
          <a:p>
            <a:pPr indent="0" algn="just">
              <a:lnSpc>
                <a:spcPct val="150000"/>
              </a:lnSpc>
              <a:spcBef>
                <a:spcPts val="1200"/>
              </a:spcBef>
              <a:buNone/>
            </a:pPr>
            <a:r>
              <a:rPr lang="en-US" sz="4500" dirty="0">
                <a:latin typeface="Times New Roman" panose="02020603050405020304" pitchFamily="18" charset="0"/>
                <a:cs typeface="Times New Roman" panose="02020603050405020304" pitchFamily="18" charset="0"/>
              </a:rPr>
              <a:t>The Cafeteria Management and Ordering System is developed using the C programming language by applying fundamental data structures such as arrays, queues, and stacks to create an efficient and user-friendly ordering system. Arrays are used to store and manage menu items, enabling quick access to food names, prices, and categories. The queue data structure handles customer orders in a first-in-first-out (FIFO) manner, ensuring fair processing based on the order of arrival. Additionally, a stack provides an undo feature, allowing users to remove the most recently added item during ordering. The system includes an automatic billing feature that calculates the total amount based on selected items and quantities, along with discount and tax calculations for generating the final bill. This project demonstrates how data structures can be effectively used to improve efficiency, reduce errors, and simplify cafeteria management operations.</a:t>
            </a:r>
          </a:p>
          <a:p>
            <a:pPr marL="457200" lvl="0" indent="0" algn="just" rtl="0">
              <a:lnSpc>
                <a:spcPct val="100000"/>
              </a:lnSpc>
              <a:spcBef>
                <a:spcPts val="1200"/>
              </a:spcBef>
              <a:spcAft>
                <a:spcPts val="0"/>
              </a:spcAft>
              <a:buSzPts val="1368"/>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 name="Footer Placeholder 1">
            <a:extLst>
              <a:ext uri="{FF2B5EF4-FFF2-40B4-BE49-F238E27FC236}">
                <a16:creationId xmlns:a16="http://schemas.microsoft.com/office/drawing/2014/main" id="{CA7C9AFA-0792-105D-B244-EDBAAF266902}"/>
              </a:ext>
            </a:extLst>
          </p:cNvPr>
          <p:cNvSpPr>
            <a:spLocks noGrp="1"/>
          </p:cNvSpPr>
          <p:nvPr>
            <p:ph type="ftr" idx="11"/>
          </p:nvPr>
        </p:nvSpPr>
        <p:spPr/>
        <p:txBody>
          <a:bodyPr/>
          <a:lstStyle/>
          <a:p>
            <a:r>
              <a:rPr lang="en-US"/>
              <a:t>END SEMESTER REVIEW</a:t>
            </a:r>
          </a:p>
        </p:txBody>
      </p:sp>
      <p:sp>
        <p:nvSpPr>
          <p:cNvPr id="4" name="Date Placeholder 3">
            <a:extLst>
              <a:ext uri="{FF2B5EF4-FFF2-40B4-BE49-F238E27FC236}">
                <a16:creationId xmlns:a16="http://schemas.microsoft.com/office/drawing/2014/main" id="{899A2C67-ACC6-EDD4-13E7-715F48D5B145}"/>
              </a:ext>
            </a:extLst>
          </p:cNvPr>
          <p:cNvSpPr>
            <a:spLocks noGrp="1"/>
          </p:cNvSpPr>
          <p:nvPr>
            <p:ph type="dt" idx="10"/>
          </p:nvPr>
        </p:nvSpPr>
        <p:spPr/>
        <p:txBody>
          <a:bodyPr/>
          <a:lstStyle/>
          <a:p>
            <a:r>
              <a:rPr lang="en-US"/>
              <a:t>03-06-2026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685800" y="171450"/>
            <a:ext cx="8001000" cy="4953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 WITH CO &amp; PO MAPPING</a:t>
            </a:r>
            <a:endParaRPr lang="en-US" sz="4000" b="1" dirty="0">
              <a:solidFill>
                <a:schemeClr val="dk1"/>
              </a:solidFill>
              <a:latin typeface="Times New Roman"/>
              <a:ea typeface="Times New Roman"/>
              <a:cs typeface="Times New Roman"/>
              <a:sym typeface="Times New Roman"/>
            </a:endParaRPr>
          </a:p>
        </p:txBody>
      </p:sp>
      <p:sp>
        <p:nvSpPr>
          <p:cNvPr id="133" name="Google Shape;133;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34" name="Google Shape;134;p4"/>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a:solidFill>
                <a:srgbClr val="414141"/>
              </a:solidFill>
              <a:latin typeface="Arial"/>
              <a:ea typeface="Arial"/>
              <a:cs typeface="Arial"/>
              <a:sym typeface="Arial"/>
            </a:endParaRPr>
          </a:p>
        </p:txBody>
      </p:sp>
      <p:graphicFrame>
        <p:nvGraphicFramePr>
          <p:cNvPr id="135" name="Google Shape;135;p4"/>
          <p:cNvGraphicFramePr/>
          <p:nvPr>
            <p:extLst>
              <p:ext uri="{D42A27DB-BD31-4B8C-83A1-F6EECF244321}">
                <p14:modId xmlns:p14="http://schemas.microsoft.com/office/powerpoint/2010/main" val="3713500672"/>
              </p:ext>
            </p:extLst>
          </p:nvPr>
        </p:nvGraphicFramePr>
        <p:xfrm>
          <a:off x="606490" y="870650"/>
          <a:ext cx="7965551" cy="3429000"/>
        </p:xfrm>
        <a:graphic>
          <a:graphicData uri="http://schemas.openxmlformats.org/drawingml/2006/table">
            <a:tbl>
              <a:tblPr firstRow="1" bandRow="1">
                <a:noFill/>
                <a:tableStyleId>{A360B54D-2F12-4FEA-B639-18B5B5E1A9AA}</a:tableStyleId>
              </a:tblPr>
              <a:tblGrid>
                <a:gridCol w="5701658">
                  <a:extLst>
                    <a:ext uri="{9D8B030D-6E8A-4147-A177-3AD203B41FA5}">
                      <a16:colId xmlns:a16="http://schemas.microsoft.com/office/drawing/2014/main" val="20000"/>
                    </a:ext>
                  </a:extLst>
                </a:gridCol>
                <a:gridCol w="1176149">
                  <a:extLst>
                    <a:ext uri="{9D8B030D-6E8A-4147-A177-3AD203B41FA5}">
                      <a16:colId xmlns:a16="http://schemas.microsoft.com/office/drawing/2014/main" val="20001"/>
                    </a:ext>
                  </a:extLst>
                </a:gridCol>
                <a:gridCol w="1087744">
                  <a:extLst>
                    <a:ext uri="{9D8B030D-6E8A-4147-A177-3AD203B41FA5}">
                      <a16:colId xmlns:a16="http://schemas.microsoft.com/office/drawing/2014/main" val="20002"/>
                    </a:ext>
                  </a:extLst>
                </a:gridCol>
              </a:tblGrid>
              <a:tr h="4645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CO</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POs</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extLst>
                  <a:ext uri="{0D108BD9-81ED-4DB2-BD59-A6C34878D82A}">
                    <a16:rowId xmlns:a16="http://schemas.microsoft.com/office/drawing/2014/main" val="10000"/>
                  </a:ext>
                </a:extLst>
              </a:tr>
              <a:tr h="2964450">
                <a:tc>
                  <a:txBody>
                    <a:bodyPr/>
                    <a:lstStyle/>
                    <a:p>
                      <a:pPr marL="457200" marR="0" lvl="0" indent="0" algn="just" rtl="0">
                        <a:lnSpc>
                          <a:spcPct val="100000"/>
                        </a:lnSpc>
                        <a:spcBef>
                          <a:spcPts val="0"/>
                        </a:spcBef>
                        <a:spcAft>
                          <a:spcPts val="0"/>
                        </a:spcAft>
                        <a:buClr>
                          <a:schemeClr val="dk1"/>
                        </a:buClr>
                        <a:buSzPts val="1100"/>
                        <a:buFont typeface="Arial" panose="020B0604020202020204"/>
                        <a:buNone/>
                      </a:pPr>
                      <a:r>
                        <a:rPr lang="en-US" sz="14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The Cafeteria Management and Ordering System is developed using the C programming language with data structures like arrays, queues, and stacks to make the ordering process efficient and simple. Arrays are used to store and manage menu items such as food names and prices, allowing quick access. The queue is used to handle customer orders in a first-in-first-out (FIFO) manner, ensuring fair processing. A stack is implemented to provide an undo feature, enabling users to remove the last added item easily. The system also includes automatic bill calculation based on selected items, along with discount and tax computation. Overall, this project demonstrates the practical use of data structures in building an effective cafeteria management system</a:t>
                      </a:r>
                      <a:endParaRPr lang="en-US" altLang="en-GB" sz="1800" u="none" strike="noStrike" cap="none"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CO1</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CO2</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CO3</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CO4</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CO5</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PO1(2)</a:t>
                      </a:r>
                    </a:p>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PO2(2)</a:t>
                      </a:r>
                    </a:p>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PO3(3)</a:t>
                      </a:r>
                    </a:p>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PO5(3)</a:t>
                      </a:r>
                    </a:p>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PO8(3)</a:t>
                      </a:r>
                    </a:p>
                    <a:p>
                      <a:r>
                        <a:rPr lang="en-US" sz="1600" b="0" i="0" u="none" strike="noStrike" cap="none" dirty="0">
                          <a:solidFill>
                            <a:schemeClr val="dk1"/>
                          </a:solidFill>
                          <a:effectLst/>
                          <a:latin typeface="Times New Roman" panose="02020603050405020304" pitchFamily="18" charset="0"/>
                          <a:ea typeface="Gill Sans MT"/>
                          <a:cs typeface="Times New Roman" panose="02020603050405020304" pitchFamily="18" charset="0"/>
                          <a:sym typeface="Arial"/>
                        </a:rPr>
                        <a:t>PO9(2)</a:t>
                      </a:r>
                    </a:p>
                    <a:p>
                      <a:pPr marL="0" marR="0" lvl="0" indent="0" algn="ctr" rtl="0">
                        <a:lnSpc>
                          <a:spcPct val="100000"/>
                        </a:lnSpc>
                        <a:spcBef>
                          <a:spcPts val="0"/>
                        </a:spcBef>
                        <a:spcAft>
                          <a:spcPts val="0"/>
                        </a:spcAft>
                        <a:buNone/>
                      </a:pPr>
                      <a:endParaRPr sz="1800" u="none" strike="noStrike" cap="none" dirty="0">
                        <a:latin typeface="Times New Roman" panose="02020603050405020304" pitchFamily="18" charset="0"/>
                        <a:ea typeface="Arial"/>
                        <a:cs typeface="Times New Roman" panose="02020603050405020304" pitchFamily="18" charset="0"/>
                        <a:sym typeface="Arial"/>
                      </a:endParaRPr>
                    </a:p>
                  </a:txBody>
                  <a:tcPr marL="91450" marR="91450" marT="45725" marB="45725">
                    <a:solidFill>
                      <a:schemeClr val="lt2"/>
                    </a:solidFill>
                  </a:tcPr>
                </a:tc>
                <a:extLst>
                  <a:ext uri="{0D108BD9-81ED-4DB2-BD59-A6C34878D82A}">
                    <a16:rowId xmlns:a16="http://schemas.microsoft.com/office/drawing/2014/main" val="10001"/>
                  </a:ext>
                </a:extLst>
              </a:tr>
            </a:tbl>
          </a:graphicData>
        </a:graphic>
      </p:graphicFrame>
      <p:sp>
        <p:nvSpPr>
          <p:cNvPr id="2" name="Footer Placeholder 1">
            <a:extLst>
              <a:ext uri="{FF2B5EF4-FFF2-40B4-BE49-F238E27FC236}">
                <a16:creationId xmlns:a16="http://schemas.microsoft.com/office/drawing/2014/main" id="{07575E01-2DC7-81C8-2FAC-0EFCC8D28F24}"/>
              </a:ext>
            </a:extLst>
          </p:cNvPr>
          <p:cNvSpPr>
            <a:spLocks noGrp="1"/>
          </p:cNvSpPr>
          <p:nvPr>
            <p:ph type="ftr" idx="11"/>
          </p:nvPr>
        </p:nvSpPr>
        <p:spPr/>
        <p:txBody>
          <a:bodyPr/>
          <a:lstStyle/>
          <a:p>
            <a:r>
              <a:rPr lang="en-US"/>
              <a:t>END SEMESTER REVIEW</a:t>
            </a:r>
          </a:p>
        </p:txBody>
      </p:sp>
      <p:sp>
        <p:nvSpPr>
          <p:cNvPr id="4" name="Date Placeholder 3">
            <a:extLst>
              <a:ext uri="{FF2B5EF4-FFF2-40B4-BE49-F238E27FC236}">
                <a16:creationId xmlns:a16="http://schemas.microsoft.com/office/drawing/2014/main" id="{EF3F896F-9450-5089-49DB-8BA1051905F6}"/>
              </a:ext>
            </a:extLst>
          </p:cNvPr>
          <p:cNvSpPr>
            <a:spLocks noGrp="1"/>
          </p:cNvSpPr>
          <p:nvPr>
            <p:ph type="dt" idx="10"/>
          </p:nvPr>
        </p:nvSpPr>
        <p:spPr/>
        <p:txBody>
          <a:bodyPr/>
          <a:lstStyle/>
          <a:p>
            <a:r>
              <a:rPr lang="en-US"/>
              <a:t>03-06-2026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title"/>
          </p:nvPr>
        </p:nvSpPr>
        <p:spPr>
          <a:xfrm>
            <a:off x="457200" y="223935"/>
            <a:ext cx="8229600" cy="519015"/>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ts val="3200"/>
              <a:buFont typeface="Times New Roman"/>
              <a:buNone/>
            </a:pPr>
            <a:r>
              <a:rPr lang="en-US" sz="3600" b="1" dirty="0">
                <a:solidFill>
                  <a:schemeClr val="dk1"/>
                </a:solidFill>
                <a:latin typeface="Times New Roman"/>
                <a:ea typeface="Times New Roman"/>
                <a:cs typeface="Times New Roman"/>
                <a:sym typeface="Times New Roman"/>
              </a:rPr>
              <a:t>INTRODUCTION</a:t>
            </a:r>
            <a:endParaRPr lang="en-US" sz="4000" b="1" dirty="0">
              <a:solidFill>
                <a:schemeClr val="dk1"/>
              </a:solidFill>
              <a:latin typeface="Times New Roman"/>
              <a:ea typeface="Times New Roman"/>
              <a:cs typeface="Times New Roman"/>
              <a:sym typeface="Times New Roman"/>
            </a:endParaRPr>
          </a:p>
        </p:txBody>
      </p:sp>
      <p:sp>
        <p:nvSpPr>
          <p:cNvPr id="141" name="Google Shape;141;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42" name="Google Shape;142;p5"/>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77470" indent="0" algn="just">
              <a:spcBef>
                <a:spcPts val="1200"/>
              </a:spcBef>
              <a:buSzPts val="1216"/>
              <a:buNone/>
            </a:pPr>
            <a:r>
              <a:rPr lang="en-US" sz="1700" dirty="0">
                <a:latin typeface="Times New Roman" panose="02020603050405020304" pitchFamily="18" charset="0"/>
                <a:cs typeface="Times New Roman" panose="02020603050405020304" pitchFamily="18" charset="0"/>
              </a:rPr>
              <a:t>The Cafeteria Management and Ordering System is a simple and efficient application developed using the C programming language to manage food ordering in a cafeteria. In many cafeterias, the ordering process is often done manually, which can lead to delays, errors, and confusion in handling multiple customer requests. This project aims to overcome such issues by automating the process using fundamental data structures. Arrays are used to store and display menu items, queues are used to manage customer orders in a systematic first-in-first-out manner, and stacks are used to provide an undo feature for correcting mistakes. The system also includes automatic bill calculation with discount and tax, ensuring accuracy and saving time. Overall, this project demonstrates how basic data structures can be applied to solve real-world problems and improve efficiency in cafeteria management.</a:t>
            </a:r>
            <a:endParaRPr lang="en-US" sz="1700" b="1" dirty="0">
              <a:latin typeface="Times New Roman" panose="02020603050405020304" pitchFamily="18" charset="0"/>
              <a:cs typeface="Times New Roman" panose="02020603050405020304" pitchFamily="18" charset="0"/>
            </a:endParaRPr>
          </a:p>
          <a:p>
            <a:pPr marL="77470" lvl="0" indent="0" algn="just">
              <a:lnSpc>
                <a:spcPct val="160000"/>
              </a:lnSpc>
              <a:spcBef>
                <a:spcPts val="1200"/>
              </a:spcBef>
              <a:buSzPts val="1216"/>
              <a:buNone/>
            </a:pPr>
            <a:endParaRPr lang="en-US" altLang="en-GB"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2" name="Footer Placeholder 1">
            <a:extLst>
              <a:ext uri="{FF2B5EF4-FFF2-40B4-BE49-F238E27FC236}">
                <a16:creationId xmlns:a16="http://schemas.microsoft.com/office/drawing/2014/main" id="{49B79BB6-11CF-E82D-652B-2EB5AA22D8E3}"/>
              </a:ext>
            </a:extLst>
          </p:cNvPr>
          <p:cNvSpPr>
            <a:spLocks noGrp="1"/>
          </p:cNvSpPr>
          <p:nvPr>
            <p:ph type="ftr" idx="11"/>
          </p:nvPr>
        </p:nvSpPr>
        <p:spPr/>
        <p:txBody>
          <a:bodyPr/>
          <a:lstStyle/>
          <a:p>
            <a:r>
              <a:rPr lang="en-US"/>
              <a:t>END SEMESTER REVIEW</a:t>
            </a:r>
          </a:p>
        </p:txBody>
      </p:sp>
      <p:sp>
        <p:nvSpPr>
          <p:cNvPr id="4" name="Date Placeholder 3">
            <a:extLst>
              <a:ext uri="{FF2B5EF4-FFF2-40B4-BE49-F238E27FC236}">
                <a16:creationId xmlns:a16="http://schemas.microsoft.com/office/drawing/2014/main" id="{9ED16346-B819-4010-E038-CA052044A818}"/>
              </a:ext>
            </a:extLst>
          </p:cNvPr>
          <p:cNvSpPr>
            <a:spLocks noGrp="1"/>
          </p:cNvSpPr>
          <p:nvPr>
            <p:ph type="dt" idx="10"/>
          </p:nvPr>
        </p:nvSpPr>
        <p:spPr/>
        <p:txBody>
          <a:bodyPr/>
          <a:lstStyle/>
          <a:p>
            <a:r>
              <a:rPr lang="en-US"/>
              <a:t>03-06-2026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85950" y="59800"/>
            <a:ext cx="8313300" cy="762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DATA STRUCTURES USED</a:t>
            </a:r>
            <a:endParaRPr lang="en-US"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48" name="Google Shape;148;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49" name="Google Shape;149;p6"/>
          <p:cNvSpPr txBox="1">
            <a:spLocks noGrp="1"/>
          </p:cNvSpPr>
          <p:nvPr>
            <p:ph type="body" idx="1"/>
          </p:nvPr>
        </p:nvSpPr>
        <p:spPr>
          <a:xfrm>
            <a:off x="485950" y="979485"/>
            <a:ext cx="8429450" cy="40746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600"/>
              </a:spcBef>
              <a:spcAft>
                <a:spcPts val="0"/>
              </a:spcAft>
              <a:buSzPts val="1368"/>
              <a:buNone/>
            </a:pPr>
            <a:r>
              <a:rPr lang="en-US" sz="1800" b="1" dirty="0">
                <a:latin typeface="Times New Roman" panose="02020603050405020304" pitchFamily="18" charset="0"/>
                <a:ea typeface="Arial"/>
                <a:cs typeface="Times New Roman" panose="02020603050405020304" pitchFamily="18" charset="0"/>
                <a:sym typeface="Arial"/>
              </a:rPr>
              <a:t> </a:t>
            </a:r>
            <a:endParaRPr sz="1800" b="1" dirty="0">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CC65FB80-75F3-77C2-87AB-6EB5A07D235B}"/>
              </a:ext>
            </a:extLst>
          </p:cNvPr>
          <p:cNvSpPr txBox="1"/>
          <p:nvPr/>
        </p:nvSpPr>
        <p:spPr>
          <a:xfrm>
            <a:off x="485950" y="1102581"/>
            <a:ext cx="8313300" cy="4324261"/>
          </a:xfrm>
          <a:prstGeom prst="rect">
            <a:avLst/>
          </a:prstGeom>
          <a:noFill/>
        </p:spPr>
        <p:txBody>
          <a:bodyPr wrap="square">
            <a:spAutoFit/>
          </a:bodyPr>
          <a:lstStyle/>
          <a:p>
            <a:pPr algn="just">
              <a:spcBef>
                <a:spcPts val="600"/>
              </a:spcBef>
              <a:buSzPts val="1368"/>
            </a:pPr>
            <a:r>
              <a:rPr lang="en-US" sz="1700" dirty="0">
                <a:latin typeface="Times New Roman" panose="02020603050405020304" pitchFamily="18" charset="0"/>
                <a:cs typeface="Times New Roman" panose="02020603050405020304" pitchFamily="18" charset="0"/>
              </a:rPr>
              <a:t>The Cafeteria Management and Ordering System is developed using the C programming language by applying fundamental data structures such as arrays, queues, and stacks to create an efficient and user-friendly ordering system. Arrays are used to store and manage menu items, enabling quick access to food names, prices, and categories. The queue data structure handles customer orders in a first-in-first-out (FIFO) manner, ensuring fair processing based on the order of arrival. Additionally, a stack provides an undo feature, allowing users to remove the most recently added item during ordering. The system includes an automatic billing feature that calculates the total amount based on selected items and quantities, along with discount and tax calculations for generating the final bill. This project demonstrates how data structures can be effectively used to improve efficiency, reduce errors, and simplify cafeteria management operations.</a:t>
            </a:r>
          </a:p>
          <a:p>
            <a:pPr marL="0" lvl="0" indent="0" algn="just" rtl="0">
              <a:lnSpc>
                <a:spcPct val="100000"/>
              </a:lnSpc>
              <a:spcBef>
                <a:spcPts val="600"/>
              </a:spcBef>
              <a:spcAft>
                <a:spcPts val="0"/>
              </a:spcAft>
              <a:buSzPts val="1368"/>
              <a:buNone/>
            </a:pPr>
            <a:endParaRPr lang="en-US"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lnSpc>
                <a:spcPct val="100000"/>
              </a:lnSpc>
              <a:spcBef>
                <a:spcPts val="600"/>
              </a:spcBef>
              <a:spcAft>
                <a:spcPts val="0"/>
              </a:spcAft>
              <a:buSzPts val="1368"/>
              <a:buNone/>
            </a:pPr>
            <a:endPar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lnSpc>
                <a:spcPct val="100000"/>
              </a:lnSpc>
              <a:spcBef>
                <a:spcPts val="600"/>
              </a:spcBef>
              <a:spcAft>
                <a:spcPts val="0"/>
              </a:spcAft>
              <a:buSzPts val="1368"/>
              <a:buNone/>
            </a:pPr>
            <a:endPar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rtl="0">
              <a:lnSpc>
                <a:spcPct val="100000"/>
              </a:lnSpc>
              <a:spcBef>
                <a:spcPts val="600"/>
              </a:spcBef>
              <a:spcAft>
                <a:spcPts val="0"/>
              </a:spcAft>
              <a:buSzPts val="1368"/>
              <a:buNone/>
            </a:pPr>
            <a:endPar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2" name="Footer Placeholder 1">
            <a:extLst>
              <a:ext uri="{FF2B5EF4-FFF2-40B4-BE49-F238E27FC236}">
                <a16:creationId xmlns:a16="http://schemas.microsoft.com/office/drawing/2014/main" id="{F9F6C32D-79A6-13D0-00FA-B3D17B03EE6D}"/>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DDCD30F0-164D-E71C-FE77-E89ADD4E3C5F}"/>
              </a:ext>
            </a:extLst>
          </p:cNvPr>
          <p:cNvSpPr>
            <a:spLocks noGrp="1"/>
          </p:cNvSpPr>
          <p:nvPr>
            <p:ph type="dt" idx="10"/>
          </p:nvPr>
        </p:nvSpPr>
        <p:spPr/>
        <p:txBody>
          <a:bodyPr/>
          <a:lstStyle/>
          <a:p>
            <a:r>
              <a:rPr lang="en-US"/>
              <a:t>03-06-2026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ADVANTAGES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65EB1AB2-3CC2-476A-5397-DFF1306C4D81}"/>
              </a:ext>
            </a:extLst>
          </p:cNvPr>
          <p:cNvSpPr txBox="1"/>
          <p:nvPr/>
        </p:nvSpPr>
        <p:spPr>
          <a:xfrm>
            <a:off x="243840" y="1011937"/>
            <a:ext cx="8674382" cy="3016210"/>
          </a:xfrm>
          <a:prstGeom prst="rect">
            <a:avLst/>
          </a:prstGeom>
          <a:noFill/>
        </p:spPr>
        <p:txBody>
          <a:bodyPr wrap="square">
            <a:spAutoFit/>
          </a:bodyPr>
          <a:lstStyle/>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Fast Menu Management (Arrays) : </a:t>
            </a:r>
            <a:r>
              <a:rPr lang="en-US" sz="1900" dirty="0">
                <a:latin typeface="Times New Roman" panose="02020603050405020304" pitchFamily="18" charset="0"/>
                <a:cs typeface="Times New Roman" panose="02020603050405020304" pitchFamily="18" charset="0"/>
              </a:rPr>
              <a:t>Arrays store menu items in an organized manner, allowing quick access and easy display of food details. </a:t>
            </a:r>
          </a:p>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Fair Order Processing (Queue) : </a:t>
            </a:r>
            <a:r>
              <a:rPr lang="en-US" sz="1900" dirty="0">
                <a:latin typeface="Times New Roman" panose="02020603050405020304" pitchFamily="18" charset="0"/>
                <a:cs typeface="Times New Roman" panose="02020603050405020304" pitchFamily="18" charset="0"/>
              </a:rPr>
              <a:t>The queue follows the FIFO principle, ensuring customer orders are processed in the order they are received. </a:t>
            </a:r>
          </a:p>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Error Correction (Stack) : </a:t>
            </a:r>
            <a:r>
              <a:rPr lang="en-US" sz="1900" dirty="0">
                <a:latin typeface="Times New Roman" panose="02020603050405020304" pitchFamily="18" charset="0"/>
                <a:cs typeface="Times New Roman" panose="02020603050405020304" pitchFamily="18" charset="0"/>
              </a:rPr>
              <a:t>The stack provides an undo feature, allowing users to remove the most recently added item and correct mistakes easily. </a:t>
            </a:r>
          </a:p>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Efficient Billing System : </a:t>
            </a:r>
            <a:r>
              <a:rPr lang="en-US" sz="1900" dirty="0">
                <a:latin typeface="Times New Roman" panose="02020603050405020304" pitchFamily="18" charset="0"/>
                <a:cs typeface="Times New Roman" panose="02020603050405020304" pitchFamily="18" charset="0"/>
              </a:rPr>
              <a:t>Data structures help manage ordered items efficiently, making bill generation faster and more accurate. </a:t>
            </a:r>
          </a:p>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Improved System Performance : </a:t>
            </a:r>
            <a:r>
              <a:rPr lang="en-US" sz="1900" dirty="0">
                <a:latin typeface="Times New Roman" panose="02020603050405020304" pitchFamily="18" charset="0"/>
                <a:cs typeface="Times New Roman" panose="02020603050405020304" pitchFamily="18" charset="0"/>
              </a:rPr>
              <a:t>Using arrays, queues, and stacks reduces processing time and simplifies cafeteria operations, improving overall efficiency. </a:t>
            </a:r>
          </a:p>
        </p:txBody>
      </p:sp>
      <p:sp>
        <p:nvSpPr>
          <p:cNvPr id="2" name="Footer Placeholder 1">
            <a:extLst>
              <a:ext uri="{FF2B5EF4-FFF2-40B4-BE49-F238E27FC236}">
                <a16:creationId xmlns:a16="http://schemas.microsoft.com/office/drawing/2014/main" id="{ADAF550E-0DAA-F079-0931-61638D1FA139}"/>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1A2AC9A6-626F-8AF3-1B39-D9A95834A11B}"/>
              </a:ext>
            </a:extLst>
          </p:cNvPr>
          <p:cNvSpPr>
            <a:spLocks noGrp="1"/>
          </p:cNvSpPr>
          <p:nvPr>
            <p:ph type="dt" idx="10"/>
          </p:nvPr>
        </p:nvSpPr>
        <p:spPr/>
        <p:txBody>
          <a:bodyPr/>
          <a:lstStyle/>
          <a:p>
            <a:r>
              <a:rPr lang="en-US"/>
              <a:t>03-06-2026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3B4D2A9F-A732-0FBE-2686-3D504ED25411}"/>
              </a:ext>
            </a:extLst>
          </p:cNvPr>
          <p:cNvPicPr>
            <a:picLocks noChangeAspect="1"/>
          </p:cNvPicPr>
          <p:nvPr/>
        </p:nvPicPr>
        <p:blipFill>
          <a:blip r:embed="rId3"/>
          <a:stretch>
            <a:fillRect/>
          </a:stretch>
        </p:blipFill>
        <p:spPr>
          <a:xfrm>
            <a:off x="840060" y="1090456"/>
            <a:ext cx="7292896" cy="3191612"/>
          </a:xfrm>
          <a:prstGeom prst="rect">
            <a:avLst/>
          </a:prstGeom>
        </p:spPr>
      </p:pic>
      <p:sp>
        <p:nvSpPr>
          <p:cNvPr id="2" name="Footer Placeholder 1">
            <a:extLst>
              <a:ext uri="{FF2B5EF4-FFF2-40B4-BE49-F238E27FC236}">
                <a16:creationId xmlns:a16="http://schemas.microsoft.com/office/drawing/2014/main" id="{26EF30B8-4DF4-AAB5-AB57-515700DAE8BD}"/>
              </a:ext>
            </a:extLst>
          </p:cNvPr>
          <p:cNvSpPr>
            <a:spLocks noGrp="1"/>
          </p:cNvSpPr>
          <p:nvPr>
            <p:ph type="ftr" idx="11"/>
          </p:nvPr>
        </p:nvSpPr>
        <p:spPr/>
        <p:txBody>
          <a:bodyPr/>
          <a:lstStyle/>
          <a:p>
            <a:r>
              <a:rPr lang="en-US"/>
              <a:t>END SEMESTER REVIEW</a:t>
            </a:r>
          </a:p>
        </p:txBody>
      </p:sp>
      <p:sp>
        <p:nvSpPr>
          <p:cNvPr id="4" name="Date Placeholder 3">
            <a:extLst>
              <a:ext uri="{FF2B5EF4-FFF2-40B4-BE49-F238E27FC236}">
                <a16:creationId xmlns:a16="http://schemas.microsoft.com/office/drawing/2014/main" id="{D682908A-D065-BB4C-1CA4-929ED7F21117}"/>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65988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 -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6B05EBEE-8A57-97D6-4267-C08AACC69A00}"/>
              </a:ext>
            </a:extLst>
          </p:cNvPr>
          <p:cNvSpPr txBox="1"/>
          <p:nvPr/>
        </p:nvSpPr>
        <p:spPr>
          <a:xfrm>
            <a:off x="381000" y="966439"/>
            <a:ext cx="7900639" cy="3170099"/>
          </a:xfrm>
          <a:prstGeom prst="rect">
            <a:avLst/>
          </a:prstGeom>
          <a:noFill/>
        </p:spPr>
        <p:txBody>
          <a:bodyPr wrap="square">
            <a:spAutoFit/>
          </a:bodyPr>
          <a:lstStyle/>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block diagram illustrates the working of the Cafeteria POS (Point of Sale) System using data structures. The system begins with the </a:t>
            </a:r>
            <a:r>
              <a:rPr lang="en-US" sz="1800" b="1" dirty="0">
                <a:latin typeface="Times New Roman" panose="02020603050405020304" pitchFamily="18" charset="0"/>
                <a:cs typeface="Times New Roman" panose="02020603050405020304" pitchFamily="18" charset="0"/>
              </a:rPr>
              <a:t>Menu Module</a:t>
            </a:r>
            <a:r>
              <a:rPr lang="en-US" sz="1800" dirty="0">
                <a:latin typeface="Times New Roman" panose="02020603050405020304" pitchFamily="18" charset="0"/>
                <a:cs typeface="Times New Roman" panose="02020603050405020304" pitchFamily="18" charset="0"/>
              </a:rPr>
              <a:t>, where food items and their details are stored and displayed. Customers select items and add them to the </a:t>
            </a:r>
            <a:r>
              <a:rPr lang="en-US" sz="1800" b="1" dirty="0">
                <a:latin typeface="Times New Roman" panose="02020603050405020304" pitchFamily="18" charset="0"/>
                <a:cs typeface="Times New Roman" panose="02020603050405020304" pitchFamily="18" charset="0"/>
              </a:rPr>
              <a:t>Cart Module</a:t>
            </a:r>
            <a:r>
              <a:rPr lang="en-US" sz="1800" dirty="0">
                <a:latin typeface="Times New Roman" panose="02020603050405020304" pitchFamily="18" charset="0"/>
                <a:cs typeface="Times New Roman" panose="02020603050405020304" pitchFamily="18" charset="0"/>
              </a:rPr>
              <a:t> for ordering. The </a:t>
            </a:r>
            <a:r>
              <a:rPr lang="en-US" sz="1800" b="1" dirty="0">
                <a:latin typeface="Times New Roman" panose="02020603050405020304" pitchFamily="18" charset="0"/>
                <a:cs typeface="Times New Roman" panose="02020603050405020304" pitchFamily="18" charset="0"/>
              </a:rPr>
              <a:t>Undo Function</a:t>
            </a:r>
            <a:r>
              <a:rPr lang="en-US" sz="1800" dirty="0">
                <a:latin typeface="Times New Roman" panose="02020603050405020304" pitchFamily="18" charset="0"/>
                <a:cs typeface="Times New Roman" panose="02020603050405020304" pitchFamily="18" charset="0"/>
              </a:rPr>
              <a:t> uses a stack data structure to remove the most recently added item if needed. Confirmed orders are placed in the </a:t>
            </a:r>
            <a:r>
              <a:rPr lang="en-US" sz="1800" b="1" dirty="0">
                <a:latin typeface="Times New Roman" panose="02020603050405020304" pitchFamily="18" charset="0"/>
                <a:cs typeface="Times New Roman" panose="02020603050405020304" pitchFamily="18" charset="0"/>
              </a:rPr>
              <a:t>Order Queue</a:t>
            </a:r>
            <a:r>
              <a:rPr lang="en-US" sz="1800" dirty="0">
                <a:latin typeface="Times New Roman" panose="02020603050405020304" pitchFamily="18" charset="0"/>
                <a:cs typeface="Times New Roman" panose="02020603050405020304" pitchFamily="18" charset="0"/>
              </a:rPr>
              <a:t>, which processes orders using the FIFO (First-In-First-Out) principle. The </a:t>
            </a:r>
            <a:r>
              <a:rPr lang="en-US" sz="1800" b="1" dirty="0">
                <a:latin typeface="Times New Roman" panose="02020603050405020304" pitchFamily="18" charset="0"/>
                <a:cs typeface="Times New Roman" panose="02020603050405020304" pitchFamily="18" charset="0"/>
              </a:rPr>
              <a:t>Order Process Module</a:t>
            </a:r>
            <a:r>
              <a:rPr lang="en-US" sz="1800" dirty="0">
                <a:latin typeface="Times New Roman" panose="02020603050405020304" pitchFamily="18" charset="0"/>
                <a:cs typeface="Times New Roman" panose="02020603050405020304" pitchFamily="18" charset="0"/>
              </a:rPr>
              <a:t> handles the preparation and management of orders. Finally, the </a:t>
            </a:r>
            <a:r>
              <a:rPr lang="en-US" sz="1800" b="1" dirty="0">
                <a:latin typeface="Times New Roman" panose="02020603050405020304" pitchFamily="18" charset="0"/>
                <a:cs typeface="Times New Roman" panose="02020603050405020304" pitchFamily="18" charset="0"/>
              </a:rPr>
              <a:t>Billing Module</a:t>
            </a:r>
            <a:r>
              <a:rPr lang="en-US" sz="1800" dirty="0">
                <a:latin typeface="Times New Roman" panose="02020603050405020304" pitchFamily="18" charset="0"/>
                <a:cs typeface="Times New Roman" panose="02020603050405020304" pitchFamily="18" charset="0"/>
              </a:rPr>
              <a:t> calculates the total amount, applies discounts and taxes, and generates the final bill for the customer.</a:t>
            </a:r>
          </a:p>
          <a:p>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D131A2C1-3F34-3B85-8F43-6200C2D1328E}"/>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4D8F6D58-06BF-7463-F4F1-A6007DADB2DF}"/>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3454390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LIST OF MODULES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5BD7A1F8-AD02-A5D6-C938-A9B497E098B4}"/>
              </a:ext>
            </a:extLst>
          </p:cNvPr>
          <p:cNvSpPr txBox="1"/>
          <p:nvPr/>
        </p:nvSpPr>
        <p:spPr>
          <a:xfrm>
            <a:off x="446049" y="1077951"/>
            <a:ext cx="6372440" cy="1631216"/>
          </a:xfrm>
          <a:prstGeom prst="rect">
            <a:avLst/>
          </a:prstGeom>
          <a:noFill/>
        </p:spPr>
        <p:txBody>
          <a:bodyPr wrap="square">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Menu Module</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Cart Module</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Undo Module (Stack)</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Order Module And Process Module(Queue)</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Billing Module</a:t>
            </a: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9C125263-B023-2159-6C5E-5B016E631F5B}"/>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33FBFC5C-DFAC-A800-F288-7AE3A846308F}"/>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3858623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MODULE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3ABC2695-E5EA-3FB6-8162-902FBB00F38B}"/>
              </a:ext>
            </a:extLst>
          </p:cNvPr>
          <p:cNvSpPr>
            <a:spLocks noGrp="1"/>
          </p:cNvSpPr>
          <p:nvPr>
            <p:ph type="ftr" idx="11"/>
          </p:nvPr>
        </p:nvSpPr>
        <p:spPr/>
        <p:txBody>
          <a:bodyPr/>
          <a:lstStyle/>
          <a:p>
            <a:r>
              <a:rPr lang="en-US"/>
              <a:t>END SEMESTER REVIEW</a:t>
            </a:r>
          </a:p>
        </p:txBody>
      </p:sp>
      <p:sp>
        <p:nvSpPr>
          <p:cNvPr id="4" name="TextBox 3">
            <a:extLst>
              <a:ext uri="{FF2B5EF4-FFF2-40B4-BE49-F238E27FC236}">
                <a16:creationId xmlns:a16="http://schemas.microsoft.com/office/drawing/2014/main" id="{7ED766F5-C176-0783-E848-A317A8A99701}"/>
              </a:ext>
            </a:extLst>
          </p:cNvPr>
          <p:cNvSpPr txBox="1"/>
          <p:nvPr/>
        </p:nvSpPr>
        <p:spPr>
          <a:xfrm>
            <a:off x="381000" y="1019595"/>
            <a:ext cx="8229600" cy="3693319"/>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1. Menu Module </a:t>
            </a:r>
            <a:r>
              <a:rPr lang="en-US" sz="1800" dirty="0">
                <a:latin typeface="Times New Roman" panose="02020603050405020304" pitchFamily="18" charset="0"/>
                <a:cs typeface="Times New Roman" panose="02020603050405020304" pitchFamily="18" charset="0"/>
              </a:rPr>
              <a:t>- The Menu Module displays the list of food and beverage items available in the cafeteria. It shows item names, prices, and categories in an organized manner. Customers can browse the menu and select their preferred items. This module helps users easily view all available options. It provides the necessary information required for placing an order.</a:t>
            </a:r>
          </a:p>
          <a:p>
            <a:pPr algn="just"/>
            <a:r>
              <a:rPr lang="en-US" sz="1800" b="1" dirty="0">
                <a:latin typeface="Times New Roman" panose="02020603050405020304" pitchFamily="18" charset="0"/>
                <a:cs typeface="Times New Roman" panose="02020603050405020304" pitchFamily="18" charset="0"/>
              </a:rPr>
              <a:t>2. Cart Module - </a:t>
            </a:r>
            <a:r>
              <a:rPr lang="en-US" sz="1800" dirty="0">
                <a:latin typeface="Times New Roman" panose="02020603050405020304" pitchFamily="18" charset="0"/>
                <a:cs typeface="Times New Roman" panose="02020603050405020304" pitchFamily="18" charset="0"/>
              </a:rPr>
              <a:t>The Cart Module allows customers to add selected food items before confirming an order. It stores the chosen items along with their quantities and prices. Customers. It helps users verify their order before final submission. can review, modify, or remove items from the cart. The module continuously updates the total amount</a:t>
            </a:r>
          </a:p>
          <a:p>
            <a:pPr algn="just"/>
            <a:r>
              <a:rPr lang="en-US" sz="1800" b="1" dirty="0">
                <a:latin typeface="Times New Roman" panose="02020603050405020304" pitchFamily="18" charset="0"/>
                <a:cs typeface="Times New Roman" panose="02020603050405020304" pitchFamily="18" charset="0"/>
              </a:rPr>
              <a:t>3. Undo Module (Stack) - </a:t>
            </a:r>
            <a:r>
              <a:rPr lang="en-US" sz="1800" dirty="0">
                <a:latin typeface="Times New Roman" panose="02020603050405020304" pitchFamily="18" charset="0"/>
                <a:cs typeface="Times New Roman" panose="02020603050405020304" pitchFamily="18" charset="0"/>
              </a:rPr>
              <a:t>The Undo Module uses the Stack data structure to reverse the most recent action performed by the user. It allows customers to undo recently added items from the cart. Each action is stored in the stack and removed in Last-In</a:t>
            </a:r>
          </a:p>
        </p:txBody>
      </p:sp>
      <p:sp>
        <p:nvSpPr>
          <p:cNvPr id="5" name="Date Placeholder 4">
            <a:extLst>
              <a:ext uri="{FF2B5EF4-FFF2-40B4-BE49-F238E27FC236}">
                <a16:creationId xmlns:a16="http://schemas.microsoft.com/office/drawing/2014/main" id="{6F7066AD-FD9C-A84F-6614-19CC295CE2DB}"/>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10584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91407C6-0C2B-12CE-1D9B-FF269B195B0D}"/>
            </a:ext>
          </a:extLst>
        </p:cNvPr>
        <p:cNvGrpSpPr/>
        <p:nvPr/>
      </p:nvGrpSpPr>
      <p:grpSpPr>
        <a:xfrm>
          <a:off x="0" y="0"/>
          <a:ext cx="0" cy="0"/>
          <a:chOff x="0" y="0"/>
          <a:chExt cx="0" cy="0"/>
        </a:xfrm>
      </p:grpSpPr>
      <p:sp>
        <p:nvSpPr>
          <p:cNvPr id="154" name="Google Shape;154;p7">
            <a:extLst>
              <a:ext uri="{FF2B5EF4-FFF2-40B4-BE49-F238E27FC236}">
                <a16:creationId xmlns:a16="http://schemas.microsoft.com/office/drawing/2014/main" id="{2518D68F-CF88-2065-341B-4DDAF09E38BA}"/>
              </a:ext>
            </a:extLst>
          </p:cNvPr>
          <p:cNvSpPr txBox="1">
            <a:spLocks noGrp="1"/>
          </p:cNvSpPr>
          <p:nvPr>
            <p:ph type="title"/>
          </p:nvPr>
        </p:nvSpPr>
        <p:spPr>
          <a:xfrm>
            <a:off x="457200" y="114300"/>
            <a:ext cx="8229600" cy="742950"/>
          </a:xfrm>
          <a:solidFill>
            <a:srgbClr val="93B9C3"/>
          </a:solidFill>
          <a:ln>
            <a:noFill/>
          </a:ln>
        </p:spPr>
        <p:txBody>
          <a:bodyPr spcFirstLastPara="1" wrap="square" lIns="91425" tIns="45700" rIns="91425" bIns="45700" anchor="b" anchorCtr="0">
            <a:normAutofit/>
          </a:bodyPr>
          <a:lstStyle/>
          <a:p>
            <a:pPr lvl="0" algn="ctr"/>
            <a:r>
              <a:rPr lang="en-US" b="1" dirty="0">
                <a:solidFill>
                  <a:schemeClr val="tx1"/>
                </a:solidFill>
                <a:latin typeface="Times New Roman" panose="02020603050405020304" pitchFamily="18" charset="0"/>
                <a:cs typeface="Times New Roman" panose="02020603050405020304" pitchFamily="18" charset="0"/>
              </a:rPr>
              <a:t>MODULE DESCRIPTION</a:t>
            </a:r>
            <a:endParaRPr lang="en-US" dirty="0">
              <a:sym typeface="Times New Roman"/>
            </a:endParaRPr>
          </a:p>
        </p:txBody>
      </p:sp>
      <p:sp>
        <p:nvSpPr>
          <p:cNvPr id="2" name="Footer Placeholder 1">
            <a:extLst>
              <a:ext uri="{FF2B5EF4-FFF2-40B4-BE49-F238E27FC236}">
                <a16:creationId xmlns:a16="http://schemas.microsoft.com/office/drawing/2014/main" id="{4A7E8261-9705-6F23-5ED8-1A218C1A4F2F}"/>
              </a:ext>
            </a:extLst>
          </p:cNvPr>
          <p:cNvSpPr>
            <a:spLocks noGrp="1"/>
          </p:cNvSpPr>
          <p:nvPr>
            <p:ph type="ftr" idx="11"/>
          </p:nvPr>
        </p:nvSpPr>
        <p:spPr>
          <a:xfrm>
            <a:off x="2898648" y="4767263"/>
            <a:ext cx="3505200" cy="274320"/>
          </a:xfrm>
        </p:spPr>
        <p:txBody>
          <a:bodyPr/>
          <a:lstStyle/>
          <a:p>
            <a:r>
              <a:rPr lang="en-US"/>
              <a:t>END SEMESTER REVIEW</a:t>
            </a:r>
          </a:p>
        </p:txBody>
      </p:sp>
      <p:sp>
        <p:nvSpPr>
          <p:cNvPr id="155" name="Google Shape;155;p7">
            <a:extLst>
              <a:ext uri="{FF2B5EF4-FFF2-40B4-BE49-F238E27FC236}">
                <a16:creationId xmlns:a16="http://schemas.microsoft.com/office/drawing/2014/main" id="{004945AE-9F82-CA10-F2A8-40D5F6CF2425}"/>
              </a:ext>
            </a:extLst>
          </p:cNvPr>
          <p:cNvSpPr txBox="1">
            <a:spLocks noGrp="1"/>
          </p:cNvSpPr>
          <p:nvPr>
            <p:ph type="sldNum" idx="12"/>
          </p:nvPr>
        </p:nvSpPr>
        <p:spPr>
          <a:xfrm>
            <a:off x="612648" y="4767263"/>
            <a:ext cx="1981200" cy="274320"/>
          </a:xfrm>
          <a:noFill/>
          <a:ln>
            <a:noFill/>
          </a:ln>
        </p:spPr>
        <p:txBody>
          <a:bodyPr spcFirstLastPara="1" wrap="square" lIns="91425" tIns="45700" rIns="91425" bIns="45700" anchor="t" anchorCtr="0">
            <a:noAutofit/>
          </a:bodyPr>
          <a:lstStyle/>
          <a:p>
            <a:pPr lvl="0"/>
            <a:fld id="{00000000-1234-1234-1234-123412341234}" type="slidenum">
              <a:rPr lang="en-US"/>
              <a:pPr lvl="0"/>
              <a:t>12</a:t>
            </a:fld>
            <a:endParaRPr lang="en-US"/>
          </a:p>
        </p:txBody>
      </p:sp>
      <p:sp>
        <p:nvSpPr>
          <p:cNvPr id="8" name="Text Placeholder 7">
            <a:extLst>
              <a:ext uri="{FF2B5EF4-FFF2-40B4-BE49-F238E27FC236}">
                <a16:creationId xmlns:a16="http://schemas.microsoft.com/office/drawing/2014/main" id="{77FE2872-EEA2-3C99-3EE6-1A3768D07AA9}"/>
              </a:ext>
            </a:extLst>
          </p:cNvPr>
          <p:cNvSpPr>
            <a:spLocks noGrp="1"/>
          </p:cNvSpPr>
          <p:nvPr>
            <p:ph type="body" idx="1"/>
          </p:nvPr>
        </p:nvSpPr>
        <p:spPr/>
        <p:txBody>
          <a:bodyPr>
            <a:normAutofit lnSpcReduction="10000"/>
          </a:bodyPr>
          <a:lstStyle/>
          <a:p>
            <a:pPr marL="141732" indent="0" algn="just">
              <a:buNone/>
            </a:pPr>
            <a:r>
              <a:rPr lang="en-US" sz="1800" dirty="0">
                <a:latin typeface="Times New Roman" panose="02020603050405020304" pitchFamily="18" charset="0"/>
                <a:cs typeface="Times New Roman" panose="02020603050405020304" pitchFamily="18" charset="0"/>
              </a:rPr>
              <a:t>-First-Out (LIFO) order. This module improves user convenience by correcting mistakes quickly. It ensures a flexible and user-friendly ordering experience.</a:t>
            </a:r>
          </a:p>
          <a:p>
            <a:pPr marL="141732" indent="0" algn="just">
              <a:buNone/>
            </a:pPr>
            <a:r>
              <a:rPr lang="en-US" sz="1800" b="1" dirty="0">
                <a:latin typeface="Times New Roman" panose="02020603050405020304" pitchFamily="18" charset="0"/>
                <a:cs typeface="Times New Roman" panose="02020603050405020304" pitchFamily="18" charset="0"/>
              </a:rPr>
              <a:t>4. Order Module and Process Module (Queue) - </a:t>
            </a:r>
            <a:r>
              <a:rPr lang="en-US" sz="1800" dirty="0">
                <a:latin typeface="Times New Roman" panose="02020603050405020304" pitchFamily="18" charset="0"/>
                <a:cs typeface="Times New Roman" panose="02020603050405020304" pitchFamily="18" charset="0"/>
              </a:rPr>
              <a:t>The Order Module records customer orders after confirmation. The Process Module uses a Queue data structure to manage and process orders in First-In-First-Out (FIFO) order. Orders are served in the same sequence in which they are received. This ensures fairness and efficient order handling. The module helps cafeteria staff manage multiple orders systematically and reduces processing delays.</a:t>
            </a:r>
          </a:p>
          <a:p>
            <a:pPr marL="141732" indent="0" algn="just">
              <a:buNone/>
            </a:pPr>
            <a:r>
              <a:rPr lang="en-US" sz="1800" b="1" dirty="0">
                <a:latin typeface="Times New Roman" panose="02020603050405020304" pitchFamily="18" charset="0"/>
                <a:cs typeface="Times New Roman" panose="02020603050405020304" pitchFamily="18" charset="0"/>
              </a:rPr>
              <a:t>5. Billing Module - </a:t>
            </a:r>
            <a:r>
              <a:rPr lang="en-US" sz="1800" dirty="0">
                <a:latin typeface="Times New Roman" panose="02020603050405020304" pitchFamily="18" charset="0"/>
                <a:cs typeface="Times New Roman" panose="02020603050405020304" pitchFamily="18" charset="0"/>
              </a:rPr>
              <a:t>The Billing Module generates the final bill for customer orders. It calculates the total amount based on selected items and quantities. The module displays a detailed summary of purchased items and their costs. It ensures accurate billing and payment processing. This module provides customers with a clear and organized invoice before order completion.</a:t>
            </a:r>
          </a:p>
        </p:txBody>
      </p:sp>
      <p:sp>
        <p:nvSpPr>
          <p:cNvPr id="157" name="Google Shape;157;p7">
            <a:extLst>
              <a:ext uri="{FF2B5EF4-FFF2-40B4-BE49-F238E27FC236}">
                <a16:creationId xmlns:a16="http://schemas.microsoft.com/office/drawing/2014/main" id="{4B74E2F6-22C2-472E-CB67-DDF49A7FB629}"/>
              </a:ext>
            </a:extLst>
          </p:cNvPr>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Date Placeholder 3">
            <a:extLst>
              <a:ext uri="{FF2B5EF4-FFF2-40B4-BE49-F238E27FC236}">
                <a16:creationId xmlns:a16="http://schemas.microsoft.com/office/drawing/2014/main" id="{7431ACF4-D282-0902-8C98-12D415D36187}"/>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290174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4" name="Text Placeholder 3">
            <a:extLst>
              <a:ext uri="{FF2B5EF4-FFF2-40B4-BE49-F238E27FC236}">
                <a16:creationId xmlns:a16="http://schemas.microsoft.com/office/drawing/2014/main" id="{E382C923-C785-8ABF-4979-C663C07DBE7D}"/>
              </a:ext>
            </a:extLst>
          </p:cNvPr>
          <p:cNvSpPr>
            <a:spLocks noGrp="1"/>
          </p:cNvSpPr>
          <p:nvPr>
            <p:ph type="body" idx="1"/>
          </p:nvPr>
        </p:nvSpPr>
        <p:spPr/>
        <p:txBody>
          <a:bodyPr>
            <a:normAutofit/>
          </a:bodyPr>
          <a:lstStyle/>
          <a:p>
            <a:pPr marL="141732" indent="0">
              <a:buNone/>
            </a:pPr>
            <a:endParaRPr lang="en-IN" dirty="0"/>
          </a:p>
        </p:txBody>
      </p:sp>
      <p:sp>
        <p:nvSpPr>
          <p:cNvPr id="5" name="Text Placeholder 4">
            <a:extLst>
              <a:ext uri="{FF2B5EF4-FFF2-40B4-BE49-F238E27FC236}">
                <a16:creationId xmlns:a16="http://schemas.microsoft.com/office/drawing/2014/main" id="{299C9B92-8EE1-D86A-96F7-C879037C47AD}"/>
              </a:ext>
            </a:extLst>
          </p:cNvPr>
          <p:cNvSpPr>
            <a:spLocks noGrp="1"/>
          </p:cNvSpPr>
          <p:nvPr>
            <p:ph type="body" idx="2"/>
          </p:nvPr>
        </p:nvSpPr>
        <p:spPr/>
        <p:txBody>
          <a:bodyPr>
            <a:normAutofit/>
          </a:bodyPr>
          <a:lstStyle/>
          <a:p>
            <a:pPr marL="141732" indent="0" algn="just">
              <a:buNone/>
            </a:pPr>
            <a:r>
              <a:rPr lang="en-US" sz="2000" b="1" dirty="0">
                <a:latin typeface="Times New Roman" panose="02020603050405020304" pitchFamily="18" charset="0"/>
                <a:cs typeface="Times New Roman" panose="02020603050405020304" pitchFamily="18" charset="0"/>
              </a:rPr>
              <a:t>Menu Module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Menu Module displays all available food items along with their item IDs and prices, helping customers easily view and select their preferred meals.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Menu information is stored using arrays, which provide quick access to food details and simplify menu management operations.</a:t>
            </a:r>
            <a:endParaRPr lang="en-IN" sz="2000" dirty="0">
              <a:latin typeface="Times New Roman" panose="02020603050405020304" pitchFamily="18" charset="0"/>
              <a:cs typeface="Times New Roman" panose="02020603050405020304" pitchFamily="18" charset="0"/>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EF044144-CB76-C7E6-9C1F-A2A7A698CA3F}"/>
              </a:ext>
            </a:extLst>
          </p:cNvPr>
          <p:cNvSpPr>
            <a:spLocks noGrp="1"/>
          </p:cNvSpPr>
          <p:nvPr>
            <p:ph type="ftr" idx="11"/>
          </p:nvPr>
        </p:nvSpPr>
        <p:spPr/>
        <p:txBody>
          <a:bodyPr/>
          <a:lstStyle/>
          <a:p>
            <a:r>
              <a:rPr lang="en-US"/>
              <a:t>END SEMESTER REVIEW</a:t>
            </a:r>
          </a:p>
        </p:txBody>
      </p:sp>
      <p:pic>
        <p:nvPicPr>
          <p:cNvPr id="6" name="Picture 5">
            <a:extLst>
              <a:ext uri="{FF2B5EF4-FFF2-40B4-BE49-F238E27FC236}">
                <a16:creationId xmlns:a16="http://schemas.microsoft.com/office/drawing/2014/main" id="{124BBB51-8518-4FE4-1F55-1856C3184D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9" y="1028700"/>
            <a:ext cx="3756152" cy="1543050"/>
          </a:xfrm>
          <a:prstGeom prst="rect">
            <a:avLst/>
          </a:prstGeom>
        </p:spPr>
      </p:pic>
      <p:pic>
        <p:nvPicPr>
          <p:cNvPr id="8" name="Picture 7">
            <a:extLst>
              <a:ext uri="{FF2B5EF4-FFF2-40B4-BE49-F238E27FC236}">
                <a16:creationId xmlns:a16="http://schemas.microsoft.com/office/drawing/2014/main" id="{3F30A676-F66D-0CB6-41B3-93169820AF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12649" y="2763774"/>
            <a:ext cx="3756152" cy="1703951"/>
          </a:xfrm>
          <a:prstGeom prst="rect">
            <a:avLst/>
          </a:prstGeom>
          <a:noFill/>
          <a:ln>
            <a:noFill/>
          </a:ln>
        </p:spPr>
      </p:pic>
      <p:sp>
        <p:nvSpPr>
          <p:cNvPr id="7" name="Date Placeholder 6">
            <a:extLst>
              <a:ext uri="{FF2B5EF4-FFF2-40B4-BE49-F238E27FC236}">
                <a16:creationId xmlns:a16="http://schemas.microsoft.com/office/drawing/2014/main" id="{B2E394FB-5434-019F-405E-F318606C8181}"/>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2162004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2" name="Text Placeholder 1">
            <a:extLst>
              <a:ext uri="{FF2B5EF4-FFF2-40B4-BE49-F238E27FC236}">
                <a16:creationId xmlns:a16="http://schemas.microsoft.com/office/drawing/2014/main" id="{A8AF089F-73C1-FDA0-3615-77A17AB70EB2}"/>
              </a:ext>
            </a:extLst>
          </p:cNvPr>
          <p:cNvSpPr>
            <a:spLocks noGrp="1"/>
          </p:cNvSpPr>
          <p:nvPr>
            <p:ph type="body" idx="1"/>
          </p:nvPr>
        </p:nvSpPr>
        <p:spPr/>
        <p:txBody>
          <a:bodyPr/>
          <a:lstStyle/>
          <a:p>
            <a:pPr marL="141732" indent="0">
              <a:buNone/>
            </a:pPr>
            <a:endParaRPr lang="en-IN" dirty="0"/>
          </a:p>
        </p:txBody>
      </p:sp>
      <p:sp>
        <p:nvSpPr>
          <p:cNvPr id="3" name="Text Placeholder 2">
            <a:extLst>
              <a:ext uri="{FF2B5EF4-FFF2-40B4-BE49-F238E27FC236}">
                <a16:creationId xmlns:a16="http://schemas.microsoft.com/office/drawing/2014/main" id="{D0E6339A-7D58-A783-B6CF-2AC1463C1B0A}"/>
              </a:ext>
            </a:extLst>
          </p:cNvPr>
          <p:cNvSpPr>
            <a:spLocks noGrp="1"/>
          </p:cNvSpPr>
          <p:nvPr>
            <p:ph type="body" idx="2"/>
          </p:nvPr>
        </p:nvSpPr>
        <p:spPr/>
        <p:txBody>
          <a:bodyPr>
            <a:normAutofit/>
          </a:bodyPr>
          <a:lstStyle/>
          <a:p>
            <a:pPr marL="141732" indent="0">
              <a:buNone/>
            </a:pPr>
            <a:r>
              <a:rPr lang="en-US" sz="2000" b="1" dirty="0">
                <a:latin typeface="Times New Roman" panose="02020603050405020304" pitchFamily="18" charset="0"/>
                <a:cs typeface="Times New Roman" panose="02020603050405020304" pitchFamily="18" charset="0"/>
              </a:rPr>
              <a:t>Add Items to Cart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Add Items to Cart module allows customers to choose food items and specify quantities before proceeding with the ordering process.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selected items are stored temporarily in the cart, enabling users to review and modify their choices whenever required.</a:t>
            </a: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Footer Placeholder 3">
            <a:extLst>
              <a:ext uri="{FF2B5EF4-FFF2-40B4-BE49-F238E27FC236}">
                <a16:creationId xmlns:a16="http://schemas.microsoft.com/office/drawing/2014/main" id="{59169DCC-9AEC-2A93-EDA1-4DCED382D55C}"/>
              </a:ext>
            </a:extLst>
          </p:cNvPr>
          <p:cNvSpPr>
            <a:spLocks noGrp="1"/>
          </p:cNvSpPr>
          <p:nvPr>
            <p:ph type="ftr" idx="11"/>
          </p:nvPr>
        </p:nvSpPr>
        <p:spPr/>
        <p:txBody>
          <a:bodyPr/>
          <a:lstStyle/>
          <a:p>
            <a:r>
              <a:rPr lang="en-US"/>
              <a:t>END SEMESTER REVIEW</a:t>
            </a:r>
          </a:p>
        </p:txBody>
      </p:sp>
      <p:pic>
        <p:nvPicPr>
          <p:cNvPr id="6" name="Picture 5">
            <a:extLst>
              <a:ext uri="{FF2B5EF4-FFF2-40B4-BE49-F238E27FC236}">
                <a16:creationId xmlns:a16="http://schemas.microsoft.com/office/drawing/2014/main" id="{B18349A1-8C21-FBAD-D913-B00204F90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 y="1006793"/>
            <a:ext cx="3801308" cy="1647952"/>
          </a:xfrm>
          <a:prstGeom prst="rect">
            <a:avLst/>
          </a:prstGeom>
        </p:spPr>
      </p:pic>
      <p:pic>
        <p:nvPicPr>
          <p:cNvPr id="8" name="Picture 7">
            <a:extLst>
              <a:ext uri="{FF2B5EF4-FFF2-40B4-BE49-F238E27FC236}">
                <a16:creationId xmlns:a16="http://schemas.microsoft.com/office/drawing/2014/main" id="{68A392A3-D5C3-26C5-2EA3-1EF9F68E66A8}"/>
              </a:ext>
            </a:extLst>
          </p:cNvPr>
          <p:cNvPicPr>
            <a:picLocks noChangeAspect="1"/>
          </p:cNvPicPr>
          <p:nvPr/>
        </p:nvPicPr>
        <p:blipFill>
          <a:blip r:embed="rId4"/>
          <a:stretch>
            <a:fillRect/>
          </a:stretch>
        </p:blipFill>
        <p:spPr>
          <a:xfrm>
            <a:off x="612648" y="2865663"/>
            <a:ext cx="3801308" cy="1647952"/>
          </a:xfrm>
          <a:prstGeom prst="rect">
            <a:avLst/>
          </a:prstGeom>
        </p:spPr>
      </p:pic>
      <p:sp>
        <p:nvSpPr>
          <p:cNvPr id="7" name="Date Placeholder 6">
            <a:extLst>
              <a:ext uri="{FF2B5EF4-FFF2-40B4-BE49-F238E27FC236}">
                <a16:creationId xmlns:a16="http://schemas.microsoft.com/office/drawing/2014/main" id="{5E2445F2-DC48-AC99-305C-04A36AFC47E1}"/>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99001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06EEAB7-5F67-390B-615F-E2D640104E1E}"/>
            </a:ext>
          </a:extLst>
        </p:cNvPr>
        <p:cNvGrpSpPr/>
        <p:nvPr/>
      </p:nvGrpSpPr>
      <p:grpSpPr>
        <a:xfrm>
          <a:off x="0" y="0"/>
          <a:ext cx="0" cy="0"/>
          <a:chOff x="0" y="0"/>
          <a:chExt cx="0" cy="0"/>
        </a:xfrm>
      </p:grpSpPr>
      <p:sp>
        <p:nvSpPr>
          <p:cNvPr id="154" name="Google Shape;154;p7">
            <a:extLst>
              <a:ext uri="{FF2B5EF4-FFF2-40B4-BE49-F238E27FC236}">
                <a16:creationId xmlns:a16="http://schemas.microsoft.com/office/drawing/2014/main" id="{5AAFE994-4D13-EEDB-7FE7-C23EE4EFFC02}"/>
              </a:ext>
            </a:extLst>
          </p:cNvPr>
          <p:cNvSpPr txBox="1">
            <a:spLocks noGrp="1"/>
          </p:cNvSpPr>
          <p:nvPr>
            <p:ph type="title"/>
          </p:nvPr>
        </p:nvSpPr>
        <p:spPr>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a:extLst>
              <a:ext uri="{FF2B5EF4-FFF2-40B4-BE49-F238E27FC236}">
                <a16:creationId xmlns:a16="http://schemas.microsoft.com/office/drawing/2014/main" id="{B440B162-51EA-4A3C-E73A-503127C7536A}"/>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2" name="Text Placeholder 1">
            <a:extLst>
              <a:ext uri="{FF2B5EF4-FFF2-40B4-BE49-F238E27FC236}">
                <a16:creationId xmlns:a16="http://schemas.microsoft.com/office/drawing/2014/main" id="{C5A639D4-BFB4-232C-8B9F-E26BB4C5737D}"/>
              </a:ext>
            </a:extLst>
          </p:cNvPr>
          <p:cNvSpPr>
            <a:spLocks noGrp="1"/>
          </p:cNvSpPr>
          <p:nvPr>
            <p:ph type="body" idx="1"/>
          </p:nvPr>
        </p:nvSpPr>
        <p:spPr/>
        <p:txBody>
          <a:bodyPr/>
          <a:lstStyle/>
          <a:p>
            <a:pPr marL="141732" indent="0">
              <a:buNone/>
            </a:pPr>
            <a:endParaRPr lang="en-IN" dirty="0"/>
          </a:p>
        </p:txBody>
      </p:sp>
      <p:sp>
        <p:nvSpPr>
          <p:cNvPr id="3" name="Text Placeholder 2">
            <a:extLst>
              <a:ext uri="{FF2B5EF4-FFF2-40B4-BE49-F238E27FC236}">
                <a16:creationId xmlns:a16="http://schemas.microsoft.com/office/drawing/2014/main" id="{DA6E2923-9C2F-2CC3-3B2A-C87D78E33219}"/>
              </a:ext>
            </a:extLst>
          </p:cNvPr>
          <p:cNvSpPr>
            <a:spLocks noGrp="1"/>
          </p:cNvSpPr>
          <p:nvPr>
            <p:ph type="body" idx="2"/>
          </p:nvPr>
        </p:nvSpPr>
        <p:spPr/>
        <p:txBody>
          <a:bodyPr>
            <a:normAutofit/>
          </a:bodyPr>
          <a:lstStyle/>
          <a:p>
            <a:pPr marL="141732" indent="0">
              <a:buNone/>
            </a:pPr>
            <a:r>
              <a:rPr lang="en-US" sz="2000" b="1" dirty="0">
                <a:latin typeface="Times New Roman" panose="02020603050405020304" pitchFamily="18" charset="0"/>
                <a:cs typeface="Times New Roman" panose="02020603050405020304" pitchFamily="18" charset="0"/>
              </a:rPr>
              <a:t>Undo Operation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Undo Operation uses the stack data structure to remove the most recently added item from the cart quickly and efficiently.</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feature helps customers correct ordering mistakes without affecting other items that have already been selected.</a:t>
            </a:r>
          </a:p>
        </p:txBody>
      </p:sp>
      <p:sp>
        <p:nvSpPr>
          <p:cNvPr id="157" name="Google Shape;157;p7">
            <a:extLst>
              <a:ext uri="{FF2B5EF4-FFF2-40B4-BE49-F238E27FC236}">
                <a16:creationId xmlns:a16="http://schemas.microsoft.com/office/drawing/2014/main" id="{78A00039-B0A4-6821-9C99-A7398D7F918C}"/>
              </a:ext>
            </a:extLst>
          </p:cNvPr>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Footer Placeholder 3">
            <a:extLst>
              <a:ext uri="{FF2B5EF4-FFF2-40B4-BE49-F238E27FC236}">
                <a16:creationId xmlns:a16="http://schemas.microsoft.com/office/drawing/2014/main" id="{A2BB7D3C-5EBF-DCF2-3A97-D80574A317CA}"/>
              </a:ext>
            </a:extLst>
          </p:cNvPr>
          <p:cNvSpPr>
            <a:spLocks noGrp="1"/>
          </p:cNvSpPr>
          <p:nvPr>
            <p:ph type="ftr" idx="11"/>
          </p:nvPr>
        </p:nvSpPr>
        <p:spPr/>
        <p:txBody>
          <a:bodyPr/>
          <a:lstStyle/>
          <a:p>
            <a:r>
              <a:rPr lang="en-US"/>
              <a:t>END SEMESTER REVIEW</a:t>
            </a:r>
          </a:p>
        </p:txBody>
      </p:sp>
      <p:pic>
        <p:nvPicPr>
          <p:cNvPr id="7" name="Picture 6">
            <a:extLst>
              <a:ext uri="{FF2B5EF4-FFF2-40B4-BE49-F238E27FC236}">
                <a16:creationId xmlns:a16="http://schemas.microsoft.com/office/drawing/2014/main" id="{97DA406F-7629-65B4-9D49-204365562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 y="1028700"/>
            <a:ext cx="3767441" cy="836930"/>
          </a:xfrm>
          <a:prstGeom prst="rect">
            <a:avLst/>
          </a:prstGeom>
        </p:spPr>
      </p:pic>
      <p:pic>
        <p:nvPicPr>
          <p:cNvPr id="8" name="Picture 7">
            <a:extLst>
              <a:ext uri="{FF2B5EF4-FFF2-40B4-BE49-F238E27FC236}">
                <a16:creationId xmlns:a16="http://schemas.microsoft.com/office/drawing/2014/main" id="{C54D83DE-F198-B7A1-8E4C-085FA4CC0352}"/>
              </a:ext>
            </a:extLst>
          </p:cNvPr>
          <p:cNvPicPr>
            <a:picLocks noChangeAspect="1"/>
          </p:cNvPicPr>
          <p:nvPr/>
        </p:nvPicPr>
        <p:blipFill>
          <a:blip r:embed="rId4"/>
          <a:stretch>
            <a:fillRect/>
          </a:stretch>
        </p:blipFill>
        <p:spPr>
          <a:xfrm>
            <a:off x="612648" y="2178756"/>
            <a:ext cx="3767441" cy="2314222"/>
          </a:xfrm>
          <a:prstGeom prst="rect">
            <a:avLst/>
          </a:prstGeom>
        </p:spPr>
      </p:pic>
      <p:sp>
        <p:nvSpPr>
          <p:cNvPr id="6" name="Date Placeholder 5">
            <a:extLst>
              <a:ext uri="{FF2B5EF4-FFF2-40B4-BE49-F238E27FC236}">
                <a16:creationId xmlns:a16="http://schemas.microsoft.com/office/drawing/2014/main" id="{E84B7ABF-9C44-D20F-FEBA-296350363811}"/>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368652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23F683E-F278-82FD-CE18-390CE4C93D9A}"/>
            </a:ext>
          </a:extLst>
        </p:cNvPr>
        <p:cNvGrpSpPr/>
        <p:nvPr/>
      </p:nvGrpSpPr>
      <p:grpSpPr>
        <a:xfrm>
          <a:off x="0" y="0"/>
          <a:ext cx="0" cy="0"/>
          <a:chOff x="0" y="0"/>
          <a:chExt cx="0" cy="0"/>
        </a:xfrm>
      </p:grpSpPr>
      <p:sp>
        <p:nvSpPr>
          <p:cNvPr id="154" name="Google Shape;154;p7">
            <a:extLst>
              <a:ext uri="{FF2B5EF4-FFF2-40B4-BE49-F238E27FC236}">
                <a16:creationId xmlns:a16="http://schemas.microsoft.com/office/drawing/2014/main" id="{08F0D88C-0432-FF77-3886-D481ACC51A9E}"/>
              </a:ext>
            </a:extLst>
          </p:cNvPr>
          <p:cNvSpPr txBox="1">
            <a:spLocks noGrp="1"/>
          </p:cNvSpPr>
          <p:nvPr>
            <p:ph type="title"/>
          </p:nvPr>
        </p:nvSpPr>
        <p:spPr>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a:extLst>
              <a:ext uri="{FF2B5EF4-FFF2-40B4-BE49-F238E27FC236}">
                <a16:creationId xmlns:a16="http://schemas.microsoft.com/office/drawing/2014/main" id="{3DD56748-7A4D-691B-A304-2CE93D2852AE}"/>
              </a:ext>
            </a:extLst>
          </p:cNvPr>
          <p:cNvSpPr txBox="1">
            <a:spLocks noGrp="1"/>
          </p:cNvSpPr>
          <p:nvPr>
            <p:ph type="sldNum" idx="12"/>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2" name="Text Placeholder 1">
            <a:extLst>
              <a:ext uri="{FF2B5EF4-FFF2-40B4-BE49-F238E27FC236}">
                <a16:creationId xmlns:a16="http://schemas.microsoft.com/office/drawing/2014/main" id="{FEA433E4-097C-1F1D-3EEF-03DBEBA1AACB}"/>
              </a:ext>
            </a:extLst>
          </p:cNvPr>
          <p:cNvSpPr>
            <a:spLocks noGrp="1"/>
          </p:cNvSpPr>
          <p:nvPr>
            <p:ph type="body" idx="1"/>
          </p:nvPr>
        </p:nvSpPr>
        <p:spPr/>
        <p:txBody>
          <a:bodyPr/>
          <a:lstStyle/>
          <a:p>
            <a:pPr marL="141732" indent="0">
              <a:buNone/>
            </a:pPr>
            <a:endParaRPr lang="en-IN" dirty="0"/>
          </a:p>
        </p:txBody>
      </p:sp>
      <p:sp>
        <p:nvSpPr>
          <p:cNvPr id="3" name="Text Placeholder 2">
            <a:extLst>
              <a:ext uri="{FF2B5EF4-FFF2-40B4-BE49-F238E27FC236}">
                <a16:creationId xmlns:a16="http://schemas.microsoft.com/office/drawing/2014/main" id="{358BE926-B624-438F-4856-68128AF5D319}"/>
              </a:ext>
            </a:extLst>
          </p:cNvPr>
          <p:cNvSpPr>
            <a:spLocks noGrp="1"/>
          </p:cNvSpPr>
          <p:nvPr>
            <p:ph type="body" idx="2"/>
          </p:nvPr>
        </p:nvSpPr>
        <p:spPr/>
        <p:txBody>
          <a:bodyPr>
            <a:normAutofit lnSpcReduction="10000"/>
          </a:bodyPr>
          <a:lstStyle/>
          <a:p>
            <a:pPr marL="141732" indent="0">
              <a:buNone/>
            </a:pPr>
            <a:r>
              <a:rPr lang="en-US" sz="2000" b="1" dirty="0">
                <a:latin typeface="Times New Roman" panose="02020603050405020304" pitchFamily="18" charset="0"/>
                <a:cs typeface="Times New Roman" panose="02020603050405020304" pitchFamily="18" charset="0"/>
              </a:rPr>
              <a:t>Billing And Processing Order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Billing and Order Management Module calculates the total bill amount, including discounts and taxes, and generates an accurate bill for the customer.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After billing, the customer's order is placed into the queue and processed using the FIFO principle, ensuring systematic and fair order handling.</a:t>
            </a:r>
          </a:p>
        </p:txBody>
      </p:sp>
      <p:sp>
        <p:nvSpPr>
          <p:cNvPr id="157" name="Google Shape;157;p7">
            <a:extLst>
              <a:ext uri="{FF2B5EF4-FFF2-40B4-BE49-F238E27FC236}">
                <a16:creationId xmlns:a16="http://schemas.microsoft.com/office/drawing/2014/main" id="{81ABB496-5D8C-A436-3E8B-193C3FD840B2}"/>
              </a:ext>
            </a:extLst>
          </p:cNvPr>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Footer Placeholder 3">
            <a:extLst>
              <a:ext uri="{FF2B5EF4-FFF2-40B4-BE49-F238E27FC236}">
                <a16:creationId xmlns:a16="http://schemas.microsoft.com/office/drawing/2014/main" id="{F13182D0-79F0-E2BF-51A7-C0C0D5FE1B2E}"/>
              </a:ext>
            </a:extLst>
          </p:cNvPr>
          <p:cNvSpPr>
            <a:spLocks noGrp="1"/>
          </p:cNvSpPr>
          <p:nvPr>
            <p:ph type="ftr" idx="11"/>
          </p:nvPr>
        </p:nvSpPr>
        <p:spPr/>
        <p:txBody>
          <a:bodyPr/>
          <a:lstStyle/>
          <a:p>
            <a:r>
              <a:rPr lang="en-US"/>
              <a:t>END SEMESTER REVIEW</a:t>
            </a:r>
          </a:p>
        </p:txBody>
      </p:sp>
      <p:pic>
        <p:nvPicPr>
          <p:cNvPr id="5" name="Picture 4">
            <a:extLst>
              <a:ext uri="{FF2B5EF4-FFF2-40B4-BE49-F238E27FC236}">
                <a16:creationId xmlns:a16="http://schemas.microsoft.com/office/drawing/2014/main" id="{7285AEAC-3EDA-E7D3-2A5B-B4DEE3C90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940" y="981075"/>
            <a:ext cx="3784149" cy="1722691"/>
          </a:xfrm>
          <a:prstGeom prst="rect">
            <a:avLst/>
          </a:prstGeom>
        </p:spPr>
      </p:pic>
      <p:pic>
        <p:nvPicPr>
          <p:cNvPr id="6" name="Picture 5">
            <a:extLst>
              <a:ext uri="{FF2B5EF4-FFF2-40B4-BE49-F238E27FC236}">
                <a16:creationId xmlns:a16="http://schemas.microsoft.com/office/drawing/2014/main" id="{CDD75648-9266-753A-8FC3-F8C1ED5CBB42}"/>
              </a:ext>
            </a:extLst>
          </p:cNvPr>
          <p:cNvPicPr>
            <a:picLocks noChangeAspect="1"/>
          </p:cNvPicPr>
          <p:nvPr/>
        </p:nvPicPr>
        <p:blipFill>
          <a:blip r:embed="rId4"/>
          <a:stretch>
            <a:fillRect/>
          </a:stretch>
        </p:blipFill>
        <p:spPr>
          <a:xfrm>
            <a:off x="595940" y="2853309"/>
            <a:ext cx="3784149" cy="1722691"/>
          </a:xfrm>
          <a:prstGeom prst="rect">
            <a:avLst/>
          </a:prstGeom>
        </p:spPr>
      </p:pic>
      <p:sp>
        <p:nvSpPr>
          <p:cNvPr id="8" name="Date Placeholder 7">
            <a:extLst>
              <a:ext uri="{FF2B5EF4-FFF2-40B4-BE49-F238E27FC236}">
                <a16:creationId xmlns:a16="http://schemas.microsoft.com/office/drawing/2014/main" id="{493C94E9-0E68-3350-0AEB-DDA21E25A775}"/>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009471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CONCLUSION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17</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E4266E4C-34F0-847F-6621-836E0F7908AD}"/>
              </a:ext>
            </a:extLst>
          </p:cNvPr>
          <p:cNvSpPr txBox="1"/>
          <p:nvPr/>
        </p:nvSpPr>
        <p:spPr>
          <a:xfrm>
            <a:off x="550127" y="868966"/>
            <a:ext cx="8060473" cy="378565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Cafeteria Management and Ordering System demonstrates how data structures and programming concepts can automate cafeteria operations efficiently. The system simplifies menu management, food ordering, order processing, and billing through a digital solution. Arrays, queues, and stacks are used to manage menu items, customer orders, and undo operations effectively. The automated billing system reduces manual errors and saves time. Overall, the project provides a simple, efficient, and user-friendly solution for cafeteria management.</a:t>
            </a:r>
          </a:p>
          <a:p>
            <a:pPr algn="just"/>
            <a:r>
              <a:rPr lang="en-US" sz="2000" b="1" dirty="0">
                <a:latin typeface="Times New Roman" panose="02020603050405020304" pitchFamily="18" charset="0"/>
                <a:cs typeface="Times New Roman" panose="02020603050405020304" pitchFamily="18" charset="0"/>
              </a:rPr>
              <a:t>Future Improvements: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customer feedback system can be added to improve service quality.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mobile application can be developed for easier access and ordering.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Order status notifications can be added for better customer updates.</a:t>
            </a: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6348AD0A-2D8E-AD84-FA9C-4BA60B674791}"/>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52DC7069-0D28-17B3-CF2D-5A394E390A5D}"/>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3875245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REFERENCES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18</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A3EF8F4C-7996-F0EF-F403-FFE0143E4EF0}"/>
              </a:ext>
            </a:extLst>
          </p:cNvPr>
          <p:cNvSpPr txBox="1"/>
          <p:nvPr/>
        </p:nvSpPr>
        <p:spPr>
          <a:xfrm>
            <a:off x="259644" y="948840"/>
            <a:ext cx="8647289" cy="341632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[1]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Python Crash Course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Eric Matthes, 2nd Edition, 2019, No Starch Press</a:t>
            </a:r>
          </a:p>
          <a:p>
            <a:r>
              <a:rPr lang="en-US" sz="1800" dirty="0">
                <a:latin typeface="Times New Roman" panose="02020603050405020304" pitchFamily="18" charset="0"/>
                <a:cs typeface="Times New Roman" panose="02020603050405020304" pitchFamily="18" charset="0"/>
              </a:rPr>
              <a:t>[2]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Data Structures and Algorithms Made Easy</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Narasimha </a:t>
            </a:r>
            <a:r>
              <a:rPr lang="en-US" sz="1800" dirty="0" err="1">
                <a:latin typeface="Times New Roman" panose="02020603050405020304" pitchFamily="18" charset="0"/>
                <a:cs typeface="Times New Roman" panose="02020603050405020304" pitchFamily="18" charset="0"/>
              </a:rPr>
              <a:t>Karumanchi</a:t>
            </a:r>
            <a:r>
              <a:rPr lang="en-US" sz="1800" dirty="0">
                <a:latin typeface="Times New Roman" panose="02020603050405020304" pitchFamily="18" charset="0"/>
                <a:cs typeface="Times New Roman" panose="02020603050405020304" pitchFamily="18" charset="0"/>
              </a:rPr>
              <a:t>, 2016 Edition, </a:t>
            </a:r>
            <a:r>
              <a:rPr lang="en-US" sz="1800" dirty="0" err="1">
                <a:latin typeface="Times New Roman" panose="02020603050405020304" pitchFamily="18" charset="0"/>
                <a:cs typeface="Times New Roman" panose="02020603050405020304" pitchFamily="18" charset="0"/>
              </a:rPr>
              <a:t>CareerMonk</a:t>
            </a:r>
            <a:r>
              <a:rPr lang="en-US" sz="1800" dirty="0">
                <a:latin typeface="Times New Roman" panose="02020603050405020304" pitchFamily="18" charset="0"/>
                <a:cs typeface="Times New Roman" panose="02020603050405020304" pitchFamily="18" charset="0"/>
              </a:rPr>
              <a:t> Publications</a:t>
            </a:r>
          </a:p>
          <a:p>
            <a:r>
              <a:rPr lang="en-US" sz="1800" dirty="0">
                <a:latin typeface="Times New Roman" panose="02020603050405020304" pitchFamily="18" charset="0"/>
                <a:cs typeface="Times New Roman" panose="02020603050405020304" pitchFamily="18" charset="0"/>
              </a:rPr>
              <a:t>[3]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Head First Python</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Paul Barry, 2nd Edition, 2016, O’Reilly Media</a:t>
            </a:r>
          </a:p>
          <a:p>
            <a:r>
              <a:rPr lang="en-US" sz="1800" dirty="0">
                <a:latin typeface="Times New Roman" panose="02020603050405020304" pitchFamily="18" charset="0"/>
                <a:cs typeface="Times New Roman" panose="02020603050405020304" pitchFamily="18" charset="0"/>
              </a:rPr>
              <a:t>[4]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Learning Python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Mark Lutz, 5th Edition, 2013, O’Reilly Media</a:t>
            </a:r>
          </a:p>
          <a:p>
            <a:r>
              <a:rPr lang="en-US" sz="1800" dirty="0">
                <a:latin typeface="Times New Roman" panose="02020603050405020304" pitchFamily="18" charset="0"/>
                <a:cs typeface="Times New Roman" panose="02020603050405020304" pitchFamily="18" charset="0"/>
              </a:rPr>
              <a:t>[5]</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Database System Concepts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Abraham Silberschatz, Henry F. Korth, S. Sudarshan,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6th Edition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2010, McGraw-Hill</a:t>
            </a:r>
          </a:p>
          <a:p>
            <a:r>
              <a:rPr lang="en-US" sz="1800" dirty="0">
                <a:latin typeface="Times New Roman" panose="02020603050405020304" pitchFamily="18" charset="0"/>
                <a:cs typeface="Times New Roman" panose="02020603050405020304" pitchFamily="18" charset="0"/>
              </a:rPr>
              <a:t>[6] </a:t>
            </a:r>
            <a:r>
              <a:rPr lang="en-US" sz="1800" dirty="0" err="1">
                <a:latin typeface="Times New Roman" panose="02020603050405020304" pitchFamily="18" charset="0"/>
                <a:cs typeface="Times New Roman" panose="02020603050405020304" pitchFamily="18" charset="0"/>
              </a:rPr>
              <a:t>GeeksforGeeks</a:t>
            </a:r>
            <a:r>
              <a:rPr lang="en-US" sz="1800" dirty="0">
                <a:latin typeface="Times New Roman" panose="02020603050405020304" pitchFamily="18" charset="0"/>
                <a:cs typeface="Times New Roman" panose="02020603050405020304" pitchFamily="18" charset="0"/>
              </a:rPr>
              <a:t> - </a:t>
            </a:r>
            <a:r>
              <a:rPr lang="en-US" sz="1800" u="sng" dirty="0">
                <a:latin typeface="Times New Roman" panose="02020603050405020304" pitchFamily="18" charset="0"/>
                <a:cs typeface="Times New Roman" panose="02020603050405020304" pitchFamily="18" charset="0"/>
              </a:rPr>
              <a:t>https://www.geeksforgeeks.org/python-programming-language</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[7] W3Schools - </a:t>
            </a:r>
            <a:r>
              <a:rPr lang="en-US" sz="1800" u="sng" dirty="0">
                <a:latin typeface="Times New Roman" panose="02020603050405020304" pitchFamily="18" charset="0"/>
                <a:cs typeface="Times New Roman" panose="02020603050405020304" pitchFamily="18" charset="0"/>
              </a:rPr>
              <a:t>https://www.w3schools.com/python</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[8] </a:t>
            </a:r>
            <a:r>
              <a:rPr lang="en-US" sz="1800" dirty="0" err="1">
                <a:latin typeface="Times New Roman" panose="02020603050405020304" pitchFamily="18" charset="0"/>
                <a:cs typeface="Times New Roman" panose="02020603050405020304" pitchFamily="18" charset="0"/>
              </a:rPr>
              <a:t>TutorialsPoint</a:t>
            </a:r>
            <a:r>
              <a:rPr lang="en-US" sz="1800" dirty="0">
                <a:latin typeface="Times New Roman" panose="02020603050405020304" pitchFamily="18" charset="0"/>
                <a:cs typeface="Times New Roman" panose="02020603050405020304" pitchFamily="18" charset="0"/>
              </a:rPr>
              <a:t>  - </a:t>
            </a:r>
            <a:r>
              <a:rPr lang="en-US" sz="1800" u="sng" dirty="0">
                <a:latin typeface="Times New Roman" panose="02020603050405020304" pitchFamily="18" charset="0"/>
                <a:cs typeface="Times New Roman" panose="02020603050405020304" pitchFamily="18" charset="0"/>
              </a:rPr>
              <a:t>https://www.tutorialspoint.com/python/index.htm⁠</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[9] </a:t>
            </a:r>
            <a:r>
              <a:rPr lang="en-US" sz="1800" dirty="0" err="1">
                <a:latin typeface="Times New Roman" panose="02020603050405020304" pitchFamily="18" charset="0"/>
                <a:cs typeface="Times New Roman" panose="02020603050405020304" pitchFamily="18" charset="0"/>
              </a:rPr>
              <a:t>Programiz</a:t>
            </a:r>
            <a:r>
              <a:rPr lang="en-US" sz="1800" dirty="0">
                <a:latin typeface="Times New Roman" panose="02020603050405020304" pitchFamily="18" charset="0"/>
                <a:cs typeface="Times New Roman" panose="02020603050405020304" pitchFamily="18" charset="0"/>
              </a:rPr>
              <a:t>  - </a:t>
            </a:r>
            <a:r>
              <a:rPr lang="en-US" sz="1800" u="sng" dirty="0">
                <a:latin typeface="Times New Roman" panose="02020603050405020304" pitchFamily="18" charset="0"/>
                <a:cs typeface="Times New Roman" panose="02020603050405020304" pitchFamily="18" charset="0"/>
              </a:rPr>
              <a:t>https://www.programiz.com/python-programming</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[10] Real Python - </a:t>
            </a:r>
            <a:r>
              <a:rPr lang="en-US" sz="1800" u="sng" dirty="0">
                <a:latin typeface="Times New Roman" panose="02020603050405020304" pitchFamily="18" charset="0"/>
                <a:cs typeface="Times New Roman" panose="02020603050405020304" pitchFamily="18" charset="0"/>
              </a:rPr>
              <a:t>https://realpython.com</a:t>
            </a:r>
            <a:endParaRPr lang="en-US" sz="18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934E87AF-189A-2DBE-083B-08181098EB8A}"/>
              </a:ext>
            </a:extLst>
          </p:cNvPr>
          <p:cNvSpPr>
            <a:spLocks noGrp="1"/>
          </p:cNvSpPr>
          <p:nvPr>
            <p:ph type="ftr" idx="11"/>
          </p:nvPr>
        </p:nvSpPr>
        <p:spPr/>
        <p:txBody>
          <a:bodyPr/>
          <a:lstStyle/>
          <a:p>
            <a:r>
              <a:rPr lang="en-US"/>
              <a:t>END SEMESTER REVIEW</a:t>
            </a:r>
          </a:p>
        </p:txBody>
      </p:sp>
      <p:sp>
        <p:nvSpPr>
          <p:cNvPr id="5" name="Date Placeholder 4">
            <a:extLst>
              <a:ext uri="{FF2B5EF4-FFF2-40B4-BE49-F238E27FC236}">
                <a16:creationId xmlns:a16="http://schemas.microsoft.com/office/drawing/2014/main" id="{2E204131-603C-A6A4-8379-3493AA865A4A}"/>
              </a:ext>
            </a:extLst>
          </p:cNvPr>
          <p:cNvSpPr>
            <a:spLocks noGrp="1"/>
          </p:cNvSpPr>
          <p:nvPr>
            <p:ph type="dt" idx="10"/>
          </p:nvPr>
        </p:nvSpPr>
        <p:spPr/>
        <p:txBody>
          <a:bodyPr/>
          <a:lstStyle/>
          <a:p>
            <a:r>
              <a:rPr lang="en-US"/>
              <a:t>03-06-2026</a:t>
            </a:r>
          </a:p>
        </p:txBody>
      </p:sp>
    </p:spTree>
    <p:extLst>
      <p:ext uri="{BB962C8B-B14F-4D97-AF65-F5344CB8AC3E}">
        <p14:creationId xmlns:p14="http://schemas.microsoft.com/office/powerpoint/2010/main" val="1446395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457200" y="1940776"/>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400" b="1" dirty="0">
                <a:solidFill>
                  <a:schemeClr val="dk1"/>
                </a:solidFill>
                <a:latin typeface="Times New Roman"/>
                <a:ea typeface="Times New Roman"/>
                <a:cs typeface="Times New Roman"/>
                <a:sym typeface="Times New Roman"/>
              </a:rPr>
              <a:t>Thank You!!</a:t>
            </a:r>
            <a:endParaRPr sz="4000" b="1" dirty="0">
              <a:solidFill>
                <a:schemeClr val="dk1"/>
              </a:solidFill>
              <a:latin typeface="Times New Roman"/>
              <a:ea typeface="Times New Roman"/>
              <a:cs typeface="Times New Roman"/>
              <a:sym typeface="Times New Roman"/>
            </a:endParaRPr>
          </a:p>
        </p:txBody>
      </p:sp>
      <p:sp>
        <p:nvSpPr>
          <p:cNvPr id="164" name="Google Shape;164;p1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19</a:t>
            </a:fld>
            <a:endParaRPr/>
          </a:p>
        </p:txBody>
      </p:sp>
      <p:sp>
        <p:nvSpPr>
          <p:cNvPr id="2" name="Footer Placeholder 1">
            <a:extLst>
              <a:ext uri="{FF2B5EF4-FFF2-40B4-BE49-F238E27FC236}">
                <a16:creationId xmlns:a16="http://schemas.microsoft.com/office/drawing/2014/main" id="{2F63C87F-1F67-E216-911C-A32C81CF4A90}"/>
              </a:ext>
            </a:extLst>
          </p:cNvPr>
          <p:cNvSpPr>
            <a:spLocks noGrp="1"/>
          </p:cNvSpPr>
          <p:nvPr>
            <p:ph type="ftr" idx="11"/>
          </p:nvPr>
        </p:nvSpPr>
        <p:spPr/>
        <p:txBody>
          <a:bodyPr/>
          <a:lstStyle/>
          <a:p>
            <a:r>
              <a:rPr lang="en-US"/>
              <a:t>END SEMESTER REVIEW</a:t>
            </a:r>
            <a:endParaRPr lang="en-US" dirty="0"/>
          </a:p>
        </p:txBody>
      </p:sp>
      <p:sp>
        <p:nvSpPr>
          <p:cNvPr id="4" name="Date Placeholder 3">
            <a:extLst>
              <a:ext uri="{FF2B5EF4-FFF2-40B4-BE49-F238E27FC236}">
                <a16:creationId xmlns:a16="http://schemas.microsoft.com/office/drawing/2014/main" id="{5513EC3B-019B-D426-6315-DB827E653642}"/>
              </a:ext>
            </a:extLst>
          </p:cNvPr>
          <p:cNvSpPr>
            <a:spLocks noGrp="1"/>
          </p:cNvSpPr>
          <p:nvPr>
            <p:ph type="dt" idx="10"/>
          </p:nvPr>
        </p:nvSpPr>
        <p:spPr/>
        <p:txBody>
          <a:bodyPr/>
          <a:lstStyle/>
          <a:p>
            <a:r>
              <a:rPr lang="en-US"/>
              <a:t>03-06-2026</a:t>
            </a:r>
            <a:endParaRPr lang="en-US" dirty="0"/>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479</TotalTime>
  <Words>1938</Words>
  <Application>Microsoft Office PowerPoint</Application>
  <PresentationFormat>On-screen Show (16:9)</PresentationFormat>
  <Paragraphs>157</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Times New Roman</vt:lpstr>
      <vt:lpstr>Noto Sans Symbols</vt:lpstr>
      <vt:lpstr>Arial</vt:lpstr>
      <vt:lpstr>Bookman Old Style</vt:lpstr>
      <vt:lpstr>Calibri</vt:lpstr>
      <vt:lpstr>Gill Sans</vt:lpstr>
      <vt:lpstr>Wingdings</vt:lpstr>
      <vt:lpstr>Arial Black</vt:lpstr>
      <vt:lpstr>Origin</vt:lpstr>
      <vt:lpstr>CGB1122 – DATA STRUCTURES END SEMESTER REVIEW</vt:lpstr>
      <vt:lpstr>Project Title</vt:lpstr>
      <vt:lpstr>ABSTRACT</vt:lpstr>
      <vt:lpstr>ABSTRACT WITH CO &amp; PO MAPPING</vt:lpstr>
      <vt:lpstr>INTRODUCTION</vt:lpstr>
      <vt:lpstr>DATA STRUCTURES USED</vt:lpstr>
      <vt:lpstr>ADVANTAGES</vt:lpstr>
      <vt:lpstr>BLOCK DIAGRAM</vt:lpstr>
      <vt:lpstr>BLOCK DIAGRAM - DESCRIPTION</vt:lpstr>
      <vt:lpstr>LIST OF MODULES</vt:lpstr>
      <vt:lpstr>MODULE DESCRIPTION</vt:lpstr>
      <vt:lpstr>MODULE DESCRIPTION</vt:lpstr>
      <vt:lpstr>RESULTS AND DISCUSSION</vt:lpstr>
      <vt:lpstr>RESULTS AND DISCUSSION(CONT…)</vt:lpstr>
      <vt:lpstr>RESULTS AND DISCUSSION(CONT…)</vt:lpstr>
      <vt:lpstr>RESULTS AND DISCUSSION(CONT…)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MGB1121/ CGB1122/EGB1121 – DATA STRUCTURES PROJECT REVIEW-1</dc:title>
  <dc:creator>Sribharathi</dc:creator>
  <cp:lastModifiedBy>Biranav Kumar P</cp:lastModifiedBy>
  <cp:revision>14</cp:revision>
  <dcterms:modified xsi:type="dcterms:W3CDTF">2026-06-16T10:16:38Z</dcterms:modified>
</cp:coreProperties>
</file>